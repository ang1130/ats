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9" r:id="rId1"/>
    <p:sldMasterId id="2147483682" r:id="rId2"/>
  </p:sldMasterIdLst>
  <p:notesMasterIdLst>
    <p:notesMasterId r:id="rId18"/>
  </p:notesMasterIdLst>
  <p:sldIdLst>
    <p:sldId id="334" r:id="rId3"/>
    <p:sldId id="258" r:id="rId4"/>
    <p:sldId id="288" r:id="rId5"/>
    <p:sldId id="341" r:id="rId6"/>
    <p:sldId id="290" r:id="rId7"/>
    <p:sldId id="343" r:id="rId8"/>
    <p:sldId id="345" r:id="rId9"/>
    <p:sldId id="293" r:id="rId10"/>
    <p:sldId id="270" r:id="rId11"/>
    <p:sldId id="285" r:id="rId12"/>
    <p:sldId id="292" r:id="rId13"/>
    <p:sldId id="340" r:id="rId14"/>
    <p:sldId id="289" r:id="rId15"/>
    <p:sldId id="347" r:id="rId16"/>
    <p:sldId id="335" r:id="rId17"/>
  </p:sldIdLst>
  <p:sldSz cx="9144000" cy="5143500" type="screen16x9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3F3"/>
    <a:srgbClr val="1B9DFF"/>
    <a:srgbClr val="25A2FF"/>
    <a:srgbClr val="7FC8FF"/>
    <a:srgbClr val="008AF2"/>
    <a:srgbClr val="57B7FF"/>
    <a:srgbClr val="007FDE"/>
    <a:srgbClr val="0090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438" autoAdjust="0"/>
  </p:normalViewPr>
  <p:slideViewPr>
    <p:cSldViewPr showGuides="1">
      <p:cViewPr varScale="1">
        <p:scale>
          <a:sx n="136" d="100"/>
          <a:sy n="136" d="100"/>
        </p:scale>
        <p:origin x="1480" y="192"/>
      </p:cViewPr>
      <p:guideLst>
        <p:guide orient="horz" pos="157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ACD03-DEB6-4C52-9EDE-FD03C9F111A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D2E1D-2A74-42C0-AFCC-0560DBF356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D2E1D-2A74-42C0-AFCC-0560DBF3569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BAA4D-7A79-C6EB-AD02-3D3701248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8DD3A3-0229-FFFE-E280-4DC8E6560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F859F0-C828-512B-E574-3A21817A7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FA8181-EE47-9B7B-0D06-AF73823F6B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113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D2E1D-2A74-42C0-AFCC-0560DBF35690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8469-CF08-A843-E7E9-ED36709E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195845-B65C-000C-2B49-ECD726265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30802E-5C30-CCD2-0087-1F335153C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BD3834-36DB-7A8E-C85D-8885EB1EF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386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BA248-F9B0-3EC4-F89A-7BB8A336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5408BD-C832-6DE6-0CB4-7FFA0322E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14D030-D7BD-AA8B-ACAB-3DE8D25D0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631620-B644-7C0F-EF8F-B9C5C1A0E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588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D2E1D-2A74-42C0-AFCC-0560DBF35690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您的研究可以紧密围绕</a:t>
            </a:r>
            <a:r>
              <a:rPr lang="en-US" altLang="zh-CN" dirty="0"/>
              <a:t>Wu</a:t>
            </a:r>
            <a:r>
              <a:rPr lang="zh-CN" altLang="en-US" dirty="0"/>
              <a:t>等人和王致远等人工作中蕴含的“轻量自适应”思想，将其发展为一套</a:t>
            </a:r>
            <a:r>
              <a:rPr lang="zh-CN" altLang="en-US" b="1" dirty="0"/>
              <a:t>直接面向</a:t>
            </a:r>
            <a:r>
              <a:rPr lang="en-US" altLang="zh-CN" b="1" dirty="0"/>
              <a:t>ATS</a:t>
            </a:r>
            <a:r>
              <a:rPr lang="zh-CN" altLang="en-US" b="1" dirty="0"/>
              <a:t>参数、基于明确启发式规则（</a:t>
            </a:r>
            <a:r>
              <a:rPr lang="en-US" altLang="zh-CN" b="1" dirty="0"/>
              <a:t>If-Then</a:t>
            </a:r>
            <a:r>
              <a:rPr lang="zh-CN" altLang="en-US" b="1" dirty="0"/>
              <a:t>）的在线调整机制</a:t>
            </a:r>
            <a:r>
              <a:rPr lang="zh-CN" altLang="en-US" dirty="0"/>
              <a:t>。这正好填补了现有研究中复杂</a:t>
            </a:r>
            <a:r>
              <a:rPr lang="en-US" altLang="zh-CN" dirty="0"/>
              <a:t>AI</a:t>
            </a:r>
            <a:r>
              <a:rPr lang="zh-CN" altLang="en-US" dirty="0"/>
              <a:t>方法落地难与静态配置适应性差之间的空白。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例如：</a:t>
            </a:r>
          </a:p>
          <a:p>
            <a:pPr lvl="1"/>
            <a:r>
              <a:rPr lang="zh-CN" altLang="en-US" b="1" dirty="0"/>
              <a:t>规则</a:t>
            </a:r>
            <a:r>
              <a:rPr lang="en-US" altLang="zh-CN" b="1" dirty="0"/>
              <a:t>1</a:t>
            </a:r>
            <a:r>
              <a:rPr lang="zh-CN" altLang="en-US" b="1" dirty="0"/>
              <a:t>：</a:t>
            </a:r>
            <a:r>
              <a:rPr lang="zh-CN" altLang="en-US" dirty="0"/>
              <a:t> </a:t>
            </a:r>
            <a:r>
              <a:rPr lang="en-US" altLang="zh-CN" dirty="0"/>
              <a:t>IF </a:t>
            </a:r>
            <a:r>
              <a:rPr lang="zh-CN" altLang="en-US" dirty="0"/>
              <a:t>平均队列长度 </a:t>
            </a:r>
            <a:r>
              <a:rPr lang="en-US" altLang="zh-CN" dirty="0"/>
              <a:t>&gt; </a:t>
            </a:r>
            <a:r>
              <a:rPr lang="zh-CN" altLang="en-US" dirty="0"/>
              <a:t>高阈值 </a:t>
            </a:r>
            <a:r>
              <a:rPr lang="en-US" altLang="zh-CN" dirty="0"/>
              <a:t>THEN </a:t>
            </a:r>
            <a:r>
              <a:rPr lang="zh-CN" altLang="en-US" dirty="0"/>
              <a:t>减小相关流的突发容量</a:t>
            </a:r>
            <a:r>
              <a:rPr lang="en-US" altLang="zh-CN" dirty="0"/>
              <a:t>(Burst Size)</a:t>
            </a:r>
            <a:endParaRPr lang="zh-CN" altLang="en-US" dirty="0"/>
          </a:p>
          <a:p>
            <a:pPr lvl="1"/>
            <a:r>
              <a:rPr lang="zh-CN" altLang="en-US" b="1" dirty="0"/>
              <a:t>规则</a:t>
            </a:r>
            <a:r>
              <a:rPr lang="en-US" altLang="zh-CN" b="1" dirty="0"/>
              <a:t>2</a:t>
            </a:r>
            <a:r>
              <a:rPr lang="zh-CN" altLang="en-US" b="1" dirty="0"/>
              <a:t>：</a:t>
            </a:r>
            <a:r>
              <a:rPr lang="zh-CN" altLang="en-US" dirty="0"/>
              <a:t> </a:t>
            </a:r>
            <a:r>
              <a:rPr lang="en-US" altLang="zh-CN" dirty="0"/>
              <a:t>IF 95%</a:t>
            </a:r>
            <a:r>
              <a:rPr lang="zh-CN" altLang="en-US" dirty="0"/>
              <a:t>分位时延 </a:t>
            </a:r>
            <a:r>
              <a:rPr lang="en-US" altLang="zh-CN" dirty="0"/>
              <a:t>&lt; </a:t>
            </a:r>
            <a:r>
              <a:rPr lang="zh-CN" altLang="en-US" dirty="0"/>
              <a:t>低阈值 </a:t>
            </a:r>
            <a:r>
              <a:rPr lang="en-US" altLang="zh-CN" dirty="0"/>
              <a:t>AND </a:t>
            </a:r>
            <a:r>
              <a:rPr lang="zh-CN" altLang="en-US" dirty="0"/>
              <a:t>吞吐量未下降 </a:t>
            </a:r>
            <a:r>
              <a:rPr lang="en-US" altLang="zh-CN" dirty="0"/>
              <a:t>THEN </a:t>
            </a:r>
            <a:r>
              <a:rPr lang="zh-CN" altLang="en-US" dirty="0"/>
              <a:t>适当增大整形速率</a:t>
            </a:r>
          </a:p>
          <a:p>
            <a:pPr lvl="1"/>
            <a:r>
              <a:rPr lang="zh-CN" altLang="en-US" b="1" dirty="0"/>
              <a:t>规则</a:t>
            </a:r>
            <a:r>
              <a:rPr lang="en-US" altLang="zh-CN" b="1" dirty="0"/>
              <a:t>3</a:t>
            </a:r>
            <a:r>
              <a:rPr lang="zh-CN" altLang="en-US" b="1" dirty="0"/>
              <a:t>：</a:t>
            </a:r>
            <a:r>
              <a:rPr lang="zh-CN" altLang="en-US" dirty="0"/>
              <a:t> </a:t>
            </a:r>
            <a:r>
              <a:rPr lang="en-US" altLang="zh-CN" dirty="0"/>
              <a:t>IF </a:t>
            </a:r>
            <a:r>
              <a:rPr lang="zh-CN" altLang="en-US" dirty="0"/>
              <a:t>检测到流量模式为“视频流突发” </a:t>
            </a:r>
            <a:r>
              <a:rPr lang="en-US" altLang="zh-CN" dirty="0"/>
              <a:t>THEN </a:t>
            </a:r>
            <a:r>
              <a:rPr lang="zh-CN" altLang="en-US" dirty="0"/>
              <a:t>临时切换至预设的参数模板</a:t>
            </a:r>
            <a:r>
              <a:rPr lang="en-US" altLang="zh-CN" dirty="0"/>
              <a:t>B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D2E1D-2A74-42C0-AFCC-0560DBF35690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295D-55E4-0CFC-5737-44FB2CFD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126216-8884-65B6-AC12-FBE4CA249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CF16D4-FAAF-E3E0-C729-B96CC10FF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200FBE-6121-279E-5CA3-AD5D3238D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12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165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D2E1D-2A74-42C0-AFCC-0560DBF35690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0893-1B8A-FBE9-D7F2-14EF3955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EB9D53-6278-5101-A439-1042DA9A5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2A7401-52DC-5741-A298-E1A05E448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本研究直面动态</a:t>
            </a:r>
            <a:r>
              <a:rPr lang="en-US" altLang="zh-CN" dirty="0" err="1"/>
              <a:t>IIoT</a:t>
            </a:r>
            <a:r>
              <a:rPr lang="zh-CN" altLang="en-US" dirty="0"/>
              <a:t>对确定性通信的挑战</a:t>
            </a:r>
            <a:r>
              <a:rPr lang="en-US" altLang="zh-CN" dirty="0"/>
              <a:t>,</a:t>
            </a:r>
            <a:r>
              <a:rPr lang="zh-CN" altLang="en-US" dirty="0"/>
              <a:t>聚焦于</a:t>
            </a:r>
            <a:r>
              <a:rPr lang="en-US" altLang="zh-CN" dirty="0"/>
              <a:t>TSN</a:t>
            </a:r>
            <a:r>
              <a:rPr lang="zh-CN" altLang="en-US" dirty="0"/>
              <a:t>中</a:t>
            </a:r>
            <a:r>
              <a:rPr lang="en-US" altLang="zh-CN" dirty="0"/>
              <a:t>ATS</a:t>
            </a:r>
            <a:r>
              <a:rPr lang="zh-CN" altLang="en-US" dirty="0"/>
              <a:t>机制的参数自适应优化问题。</a:t>
            </a:r>
          </a:p>
          <a:p>
            <a:r>
              <a:rPr lang="zh-CN" altLang="en-US" dirty="0"/>
              <a:t>创新性地提出了一条“由简入繁”的技术路径： 以轻量级启发式方法为核心，兼顾实时性、确定性与可部署性。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研究预期将为</a:t>
            </a:r>
            <a:r>
              <a:rPr lang="en-US" altLang="zh-CN" dirty="0" err="1"/>
              <a:t>IIoT</a:t>
            </a:r>
            <a:r>
              <a:rPr lang="zh-CN" altLang="en-US" dirty="0"/>
              <a:t>提供一种高效、可靠的网络通信优化解决方案，具有明确的理论价值和广阔的应用前景。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5A3FB-9FE6-680B-890D-77FB57B07D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>
                <a:solidFill>
                  <a:prstClr val="black"/>
                </a:solidFill>
              </a:rPr>
              <a:t>14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740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>
                <a:solidFill>
                  <a:prstClr val="black"/>
                </a:solidFill>
              </a:rPr>
              <a:t>15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418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68577" tIns="34289" rIns="68577" bIns="34289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lIns="68577" tIns="34289" rIns="68577" bIns="34289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0" y="3305176"/>
            <a:ext cx="7772400" cy="1021556"/>
          </a:xfrm>
          <a:prstGeom prst="rect">
            <a:avLst/>
          </a:prstGeom>
        </p:spPr>
        <p:txBody>
          <a:bodyPr lIns="68577" tIns="34289" rIns="68577" bIns="34289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0" y="2180035"/>
            <a:ext cx="7772400" cy="1125140"/>
          </a:xfrm>
          <a:prstGeom prst="rect">
            <a:avLst/>
          </a:prstGeom>
        </p:spPr>
        <p:txBody>
          <a:bodyPr lIns="68577" tIns="34289" rIns="68577" bIns="34289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57650" cy="3394472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00151"/>
            <a:ext cx="4057650" cy="3394472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2" y="1151335"/>
            <a:ext cx="4039791" cy="479822"/>
          </a:xfrm>
          <a:prstGeom prst="rect">
            <a:avLst/>
          </a:prstGeom>
        </p:spPr>
        <p:txBody>
          <a:bodyPr lIns="68577" tIns="34289" rIns="68577" bIns="34289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2" y="1631156"/>
            <a:ext cx="4039791" cy="2963466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28" y="1151335"/>
            <a:ext cx="4042172" cy="479822"/>
          </a:xfrm>
          <a:prstGeom prst="rect">
            <a:avLst/>
          </a:prstGeom>
        </p:spPr>
        <p:txBody>
          <a:bodyPr lIns="68577" tIns="34289" rIns="68577" bIns="34289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28" y="1631156"/>
            <a:ext cx="4042172" cy="2963466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3008710" cy="871538"/>
          </a:xfrm>
          <a:prstGeom prst="rect">
            <a:avLst/>
          </a:prstGeom>
        </p:spPr>
        <p:txBody>
          <a:bodyPr lIns="68577" tIns="34289" rIns="68577" bIns="34289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50" y="204790"/>
            <a:ext cx="5111353" cy="4389835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8"/>
            <a:ext cx="3008710" cy="3518297"/>
          </a:xfrm>
          <a:prstGeom prst="rect">
            <a:avLst/>
          </a:prstGeom>
        </p:spPr>
        <p:txBody>
          <a:bodyPr lIns="68577" tIns="34289" rIns="68577" bIns="34289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1" y="3600451"/>
            <a:ext cx="5486400" cy="425054"/>
          </a:xfrm>
          <a:prstGeom prst="rect">
            <a:avLst/>
          </a:prstGeom>
        </p:spPr>
        <p:txBody>
          <a:bodyPr lIns="68577" tIns="34289" rIns="68577" bIns="34289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1" y="459581"/>
            <a:ext cx="5486400" cy="3086100"/>
          </a:xfrm>
          <a:prstGeom prst="rect">
            <a:avLst/>
          </a:prstGeom>
        </p:spPr>
        <p:txBody>
          <a:bodyPr lIns="68577" tIns="34289" rIns="68577" bIns="34289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1" y="4025505"/>
            <a:ext cx="5486400" cy="603647"/>
          </a:xfrm>
          <a:prstGeom prst="rect">
            <a:avLst/>
          </a:prstGeom>
        </p:spPr>
        <p:txBody>
          <a:bodyPr lIns="68577" tIns="34289" rIns="68577" bIns="34289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 lIns="68577" tIns="34289" rIns="68577" bIns="34289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57900" cy="4388644"/>
          </a:xfrm>
          <a:prstGeom prst="rect">
            <a:avLst/>
          </a:prstGeom>
        </p:spPr>
        <p:txBody>
          <a:bodyPr vert="eaVert" lIns="68577" tIns="34289" rIns="68577" bIns="34289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68577" tIns="34289" rIns="68577" bIns="34289"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141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2026/7/17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063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2026/7/17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849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2026/7/17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929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2026/7/17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257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2026/7/17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597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2026/7/17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8397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2026/7/17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328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2026/7/17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549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2026/7/17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4444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7E13-6931-4ECB-BB5B-849FB74182C0}" type="datetimeFigureOut">
              <a:rPr lang="zh-CN" altLang="en-US" smtClean="0">
                <a:solidFill>
                  <a:prstClr val="black"/>
                </a:solidFill>
              </a:rPr>
              <a:t>2026/7/17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BF4B4-C160-4F55-AC7D-1C8FF5BA05FA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5001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307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9122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课题综述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目前现状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156176" y="175741"/>
            <a:ext cx="1281116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国外研究现状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156176" y="175741"/>
            <a:ext cx="1281116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国内研究现状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477502" y="175741"/>
            <a:ext cx="915631" cy="31162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8564756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"/>
          <p:cNvSpPr>
            <a:spLocks noChangeArrowheads="1"/>
          </p:cNvSpPr>
          <p:nvPr/>
        </p:nvSpPr>
        <p:spPr bwMode="auto">
          <a:xfrm>
            <a:off x="308374" y="0"/>
            <a:ext cx="906065" cy="781050"/>
          </a:xfrm>
          <a:prstGeom prst="rect">
            <a:avLst/>
          </a:prstGeom>
          <a:solidFill>
            <a:srgbClr val="3E3D4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方正兰亭粗黑_GBK" charset="-122"/>
              <a:ea typeface="方正兰亭粗黑_GBK" charset="-122"/>
            </a:endParaRPr>
          </a:p>
        </p:txBody>
      </p:sp>
      <p:sp>
        <p:nvSpPr>
          <p:cNvPr id="1027" name="矩形 2"/>
          <p:cNvSpPr>
            <a:spLocks noChangeArrowheads="1"/>
          </p:cNvSpPr>
          <p:nvPr/>
        </p:nvSpPr>
        <p:spPr bwMode="auto">
          <a:xfrm>
            <a:off x="0" y="4866086"/>
            <a:ext cx="9144000" cy="288131"/>
          </a:xfrm>
          <a:prstGeom prst="rect">
            <a:avLst/>
          </a:prstGeom>
          <a:solidFill>
            <a:srgbClr val="3E3D4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方正兰亭粗黑_GBK" charset="-122"/>
              <a:ea typeface="方正兰亭粗黑_GBK" charset="-122"/>
            </a:endParaRPr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8355807" y="4885136"/>
            <a:ext cx="653654" cy="253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20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- </a:t>
            </a:r>
            <a:fld id="{BBDB9114-3690-4FC0-8E90-D70C99A59258}" type="slidenum">
              <a:rPr lang="zh-CN" altLang="en-US" sz="1200" smtClean="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‹#›</a:t>
            </a:fld>
            <a:r>
              <a:rPr lang="zh-CN" altLang="en-US" sz="120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r>
              <a:rPr lang="en-US" altLang="zh-CN" sz="120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-</a:t>
            </a:r>
            <a:r>
              <a:rPr lang="zh-CN" altLang="en-US" sz="120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200" b="1">
              <a:solidFill>
                <a:srgbClr val="FFFF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95" r:id="rId13"/>
  </p:sldLayoutIdLst>
  <p:txStyles>
    <p:titleStyle>
      <a:lvl1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  <a:sym typeface="Browallia New" pitchFamily="34" charset="-34"/>
        </a:defRPr>
      </a:lvl1pPr>
      <a:lvl2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2pPr>
      <a:lvl3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3pPr>
      <a:lvl4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4pPr>
      <a:lvl5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5pPr>
      <a:lvl6pPr marL="10287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6pPr>
      <a:lvl7pPr marL="1371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7pPr>
      <a:lvl8pPr marL="17145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8pPr>
      <a:lvl9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Browallia New" pitchFamily="34" charset="-34"/>
          <a:ea typeface="微软雅黑" panose="020B0503020204020204" pitchFamily="34" charset="-122"/>
          <a:sym typeface="Browallia New" pitchFamily="34" charset="-34"/>
        </a:defRPr>
      </a:lvl9pPr>
    </p:titleStyle>
    <p:bodyStyle>
      <a:lvl1pPr marL="170180" indent="-17018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5130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8559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1988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15417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18859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2288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25717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29146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69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4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就坐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08585" y="-92710"/>
            <a:ext cx="9993630" cy="5463540"/>
          </a:xfrm>
          <a:prstGeom prst="rect">
            <a:avLst/>
          </a:prstGeom>
          <a:solidFill>
            <a:srgbClr val="21DDD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74115" y="1045088"/>
            <a:ext cx="6795770" cy="2678552"/>
          </a:xfrm>
          <a:prstGeom prst="rect">
            <a:avLst/>
          </a:prstGeom>
        </p:spPr>
        <p:txBody>
          <a:bodyPr wrap="square" lIns="68579" tIns="34289" rIns="68579" bIns="34289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800" b="1" dirty="0">
                <a:solidFill>
                  <a:prstClr val="white"/>
                </a:solidFill>
                <a:latin typeface="+mn-lt"/>
                <a:ea typeface="+mn-ea"/>
                <a:cs typeface="+mn-ea"/>
                <a:sym typeface="+mn-lt"/>
              </a:rPr>
              <a:t>毕业论文中期进展汇报</a:t>
            </a:r>
            <a:endParaRPr lang="en-US" altLang="zh-CN" sz="1800" b="1" dirty="0">
              <a:solidFill>
                <a:prstClr val="white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ctr"/>
            <a:endParaRPr lang="en-US" altLang="zh-CN" sz="24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  <a:p>
            <a:pPr algn="ctr"/>
            <a:endParaRPr lang="en-US" altLang="zh-CN" sz="24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  <a:p>
            <a:pPr algn="ctr"/>
            <a:endParaRPr lang="zh-CN" altLang="en-US" sz="4800" b="1" dirty="0">
              <a:solidFill>
                <a:prstClr val="whit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TextBox 90"/>
          <p:cNvSpPr txBox="1"/>
          <p:nvPr/>
        </p:nvSpPr>
        <p:spPr>
          <a:xfrm>
            <a:off x="871716" y="3708639"/>
            <a:ext cx="1153954" cy="338554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>姓名：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717" y="4249421"/>
            <a:ext cx="1180004" cy="338554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>专业：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2718" y="3708639"/>
            <a:ext cx="800219" cy="33855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>导师：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2718" y="4249421"/>
            <a:ext cx="800219" cy="33855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>日期：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1907705" y="4047192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1907705" y="4587974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058706" y="4047192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6058706" y="4587974"/>
            <a:ext cx="20882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042616" y="4138462"/>
            <a:ext cx="1819726" cy="424025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prstClr val="white"/>
                </a:solidFill>
                <a:cs typeface="+mn-ea"/>
                <a:sym typeface="+mn-lt"/>
              </a:rPr>
              <a:t>2026年7月17日</a:t>
            </a:r>
            <a:endParaRPr lang="zh-CN" altLang="en-US" sz="16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51685" y="37084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安仕钊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58535" y="37084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  王浩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051685" y="42494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软件工程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DDD6D1-BD42-061B-9268-7C0935F018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" y="213141"/>
            <a:ext cx="1512169" cy="39327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38"/>
          <p:cNvSpPr txBox="1"/>
          <p:nvPr/>
        </p:nvSpPr>
        <p:spPr>
          <a:xfrm>
            <a:off x="163773" y="2347016"/>
            <a:ext cx="3123394" cy="58477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altLang="zh-CN" sz="3200" b="1" dirty="0">
                <a:solidFill>
                  <a:prstClr val="white">
                    <a:lumMod val="65000"/>
                  </a:prstClr>
                </a:solidFill>
                <a:cs typeface="+mn-ea"/>
                <a:sym typeface="+mn-lt"/>
              </a:rPr>
              <a:t>CONTENTS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5" name="文本框 11"/>
          <p:cNvSpPr txBox="1"/>
          <p:nvPr/>
        </p:nvSpPr>
        <p:spPr>
          <a:xfrm>
            <a:off x="1979713" y="1976523"/>
            <a:ext cx="902811" cy="52322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cs typeface="+mn-ea"/>
                <a:sym typeface="+mn-lt"/>
              </a:rPr>
              <a:t>目录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3278460" y="2139271"/>
            <a:ext cx="0" cy="154723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24"/>
          <p:cNvGrpSpPr/>
          <p:nvPr/>
        </p:nvGrpSpPr>
        <p:grpSpPr bwMode="auto">
          <a:xfrm>
            <a:off x="4139952" y="1563638"/>
            <a:ext cx="2486025" cy="365760"/>
            <a:chOff x="0" y="0"/>
            <a:chExt cx="3314700" cy="487998"/>
          </a:xfrm>
        </p:grpSpPr>
        <p:sp>
          <p:nvSpPr>
            <p:cNvPr id="46" name="矩形 25"/>
            <p:cNvSpPr>
              <a:spLocks noChangeArrowheads="1"/>
            </p:cNvSpPr>
            <p:nvPr/>
          </p:nvSpPr>
          <p:spPr bwMode="auto">
            <a:xfrm>
              <a:off x="408093" y="0"/>
              <a:ext cx="2906607" cy="48799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indent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1200" b="1" dirty="0"/>
                <a:t>研究背景与问题</a:t>
              </a:r>
              <a:endParaRPr lang="en-US" altLang="zh-CN" sz="12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矩形 26"/>
            <p:cNvSpPr>
              <a:spLocks noChangeArrowheads="1"/>
            </p:cNvSpPr>
            <p:nvPr/>
          </p:nvSpPr>
          <p:spPr bwMode="auto">
            <a:xfrm>
              <a:off x="0" y="0"/>
              <a:ext cx="609600" cy="4876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lang="zh-CN" altLang="en-US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等腰三角形 27"/>
            <p:cNvSpPr>
              <a:spLocks noChangeAspect="1" noChangeArrowheads="1"/>
            </p:cNvSpPr>
            <p:nvPr/>
          </p:nvSpPr>
          <p:spPr bwMode="auto">
            <a:xfrm rot="5400000">
              <a:off x="599121" y="178353"/>
              <a:ext cx="151927" cy="130971"/>
            </a:xfrm>
            <a:prstGeom prst="triangle">
              <a:avLst>
                <a:gd name="adj" fmla="val 50000"/>
              </a:avLst>
            </a:prstGeom>
            <a:solidFill>
              <a:srgbClr val="3E3D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9" name="组合 28"/>
          <p:cNvGrpSpPr/>
          <p:nvPr/>
        </p:nvGrpSpPr>
        <p:grpSpPr bwMode="auto">
          <a:xfrm>
            <a:off x="4558050" y="2115667"/>
            <a:ext cx="2486025" cy="365522"/>
            <a:chOff x="0" y="0"/>
            <a:chExt cx="3314700" cy="487680"/>
          </a:xfrm>
        </p:grpSpPr>
        <p:sp>
          <p:nvSpPr>
            <p:cNvPr id="50" name="矩形 29"/>
            <p:cNvSpPr>
              <a:spLocks noChangeArrowheads="1"/>
            </p:cNvSpPr>
            <p:nvPr/>
          </p:nvSpPr>
          <p:spPr bwMode="auto">
            <a:xfrm>
              <a:off x="609600" y="0"/>
              <a:ext cx="2705100" cy="48768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indent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1200" b="1" dirty="0"/>
                <a:t>      国内外研究现状</a:t>
              </a:r>
              <a:endParaRPr lang="en-US" altLang="zh-CN" sz="12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矩形 30"/>
            <p:cNvSpPr>
              <a:spLocks noChangeArrowheads="1"/>
            </p:cNvSpPr>
            <p:nvPr/>
          </p:nvSpPr>
          <p:spPr bwMode="auto">
            <a:xfrm>
              <a:off x="0" y="0"/>
              <a:ext cx="609600" cy="4876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lang="zh-CN" altLang="en-US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等腰三角形 31"/>
            <p:cNvSpPr>
              <a:spLocks noChangeAspect="1" noChangeArrowheads="1"/>
            </p:cNvSpPr>
            <p:nvPr/>
          </p:nvSpPr>
          <p:spPr bwMode="auto">
            <a:xfrm rot="5400000">
              <a:off x="599121" y="178353"/>
              <a:ext cx="151927" cy="130971"/>
            </a:xfrm>
            <a:prstGeom prst="triangle">
              <a:avLst>
                <a:gd name="adj" fmla="val 50000"/>
              </a:avLst>
            </a:prstGeom>
            <a:solidFill>
              <a:srgbClr val="3E3D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3" name="组合 32"/>
          <p:cNvGrpSpPr/>
          <p:nvPr/>
        </p:nvGrpSpPr>
        <p:grpSpPr bwMode="auto">
          <a:xfrm>
            <a:off x="4976148" y="2667695"/>
            <a:ext cx="2486025" cy="365522"/>
            <a:chOff x="0" y="0"/>
            <a:chExt cx="3314700" cy="487680"/>
          </a:xfrm>
        </p:grpSpPr>
        <p:sp>
          <p:nvSpPr>
            <p:cNvPr id="54" name="矩形 33"/>
            <p:cNvSpPr>
              <a:spLocks noChangeArrowheads="1"/>
            </p:cNvSpPr>
            <p:nvPr/>
          </p:nvSpPr>
          <p:spPr bwMode="auto">
            <a:xfrm>
              <a:off x="609600" y="0"/>
              <a:ext cx="2705100" cy="48768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indent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1800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b="1" dirty="0">
                  <a:sym typeface="+mn-lt"/>
                </a:rPr>
                <a:t>核心思想和步骤</a:t>
              </a:r>
            </a:p>
          </p:txBody>
        </p:sp>
        <p:sp>
          <p:nvSpPr>
            <p:cNvPr id="55" name="矩形 34"/>
            <p:cNvSpPr>
              <a:spLocks noChangeArrowheads="1"/>
            </p:cNvSpPr>
            <p:nvPr/>
          </p:nvSpPr>
          <p:spPr bwMode="auto">
            <a:xfrm>
              <a:off x="0" y="0"/>
              <a:ext cx="609600" cy="4876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lang="zh-CN" altLang="en-US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等腰三角形 35"/>
            <p:cNvSpPr>
              <a:spLocks noChangeAspect="1" noChangeArrowheads="1"/>
            </p:cNvSpPr>
            <p:nvPr/>
          </p:nvSpPr>
          <p:spPr bwMode="auto">
            <a:xfrm rot="5400000">
              <a:off x="599121" y="178353"/>
              <a:ext cx="151927" cy="130971"/>
            </a:xfrm>
            <a:prstGeom prst="triangle">
              <a:avLst>
                <a:gd name="adj" fmla="val 50000"/>
              </a:avLst>
            </a:prstGeom>
            <a:solidFill>
              <a:srgbClr val="3E3D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7" name="组合 44"/>
          <p:cNvGrpSpPr/>
          <p:nvPr/>
        </p:nvGrpSpPr>
        <p:grpSpPr bwMode="auto">
          <a:xfrm>
            <a:off x="5394246" y="3219722"/>
            <a:ext cx="2486025" cy="365522"/>
            <a:chOff x="0" y="0"/>
            <a:chExt cx="3314700" cy="487680"/>
          </a:xfrm>
        </p:grpSpPr>
        <p:sp>
          <p:nvSpPr>
            <p:cNvPr id="58" name="矩形 45"/>
            <p:cNvSpPr>
              <a:spLocks noChangeArrowheads="1"/>
            </p:cNvSpPr>
            <p:nvPr/>
          </p:nvSpPr>
          <p:spPr bwMode="auto">
            <a:xfrm>
              <a:off x="609600" y="0"/>
              <a:ext cx="2705100" cy="48768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indent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/>
              <a:r>
                <a:rPr lang="zh-CN" altLang="en-US" sz="1200" b="1" dirty="0"/>
                <a:t>      预期成果</a:t>
              </a:r>
              <a:endParaRPr lang="zh-CN" altLang="en-US" sz="1200" dirty="0"/>
            </a:p>
          </p:txBody>
        </p:sp>
        <p:sp>
          <p:nvSpPr>
            <p:cNvPr id="59" name="矩形 46"/>
            <p:cNvSpPr>
              <a:spLocks noChangeArrowheads="1"/>
            </p:cNvSpPr>
            <p:nvPr/>
          </p:nvSpPr>
          <p:spPr bwMode="auto">
            <a:xfrm>
              <a:off x="0" y="0"/>
              <a:ext cx="609600" cy="4876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lang="zh-CN" altLang="en-US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等腰三角形 47"/>
            <p:cNvSpPr>
              <a:spLocks noChangeAspect="1" noChangeArrowheads="1"/>
            </p:cNvSpPr>
            <p:nvPr/>
          </p:nvSpPr>
          <p:spPr bwMode="auto">
            <a:xfrm rot="5400000">
              <a:off x="599121" y="178353"/>
              <a:ext cx="151927" cy="130971"/>
            </a:xfrm>
            <a:prstGeom prst="triangle">
              <a:avLst>
                <a:gd name="adj" fmla="val 50000"/>
              </a:avLst>
            </a:prstGeom>
            <a:solidFill>
              <a:srgbClr val="3E3D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 bwMode="auto">
          <a:xfrm>
            <a:off x="5812342" y="3771751"/>
            <a:ext cx="2486025" cy="365522"/>
            <a:chOff x="0" y="0"/>
            <a:chExt cx="3314700" cy="487680"/>
          </a:xfrm>
        </p:grpSpPr>
        <p:sp>
          <p:nvSpPr>
            <p:cNvPr id="62" name="矩形 61"/>
            <p:cNvSpPr>
              <a:spLocks noChangeArrowheads="1"/>
            </p:cNvSpPr>
            <p:nvPr/>
          </p:nvSpPr>
          <p:spPr bwMode="auto">
            <a:xfrm>
              <a:off x="609600" y="0"/>
              <a:ext cx="2705100" cy="48768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indent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52000" indent="0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1200" b="1" dirty="0"/>
                <a:t>研究意义与应用价值</a:t>
              </a:r>
              <a:endParaRPr lang="en-US" altLang="zh-CN" sz="12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矩形 62"/>
            <p:cNvSpPr>
              <a:spLocks noChangeArrowheads="1"/>
            </p:cNvSpPr>
            <p:nvPr/>
          </p:nvSpPr>
          <p:spPr bwMode="auto">
            <a:xfrm>
              <a:off x="0" y="0"/>
              <a:ext cx="609600" cy="4876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lang="zh-CN" altLang="en-US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等腰三角形 63"/>
            <p:cNvSpPr>
              <a:spLocks noChangeAspect="1" noChangeArrowheads="1"/>
            </p:cNvSpPr>
            <p:nvPr/>
          </p:nvSpPr>
          <p:spPr bwMode="auto">
            <a:xfrm rot="5400000">
              <a:off x="599121" y="178353"/>
              <a:ext cx="151927" cy="130971"/>
            </a:xfrm>
            <a:prstGeom prst="triangle">
              <a:avLst>
                <a:gd name="adj" fmla="val 50000"/>
              </a:avLst>
            </a:prstGeom>
            <a:solidFill>
              <a:srgbClr val="3E3D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665FDEC9-8B67-DD49-19BB-B97F684AD4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65" name="agenda-canvas"/>
          <p:cNvSpPr/>
          <p:nvPr/>
        </p:nvSpPr>
        <p:spPr>
          <a:xfrm>
            <a:off x="330200" y="1016000"/>
            <a:ext cx="8255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6" name="agenda-title"/>
          <p:cNvSpPr txBox="1"/>
          <p:nvPr/>
        </p:nvSpPr>
        <p:spPr>
          <a:xfrm>
            <a:off x="596900" y="1143000"/>
            <a:ext cx="1143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300" b="1">
                <a:latin typeface="Microsoft YaHei"/>
                <a:ea typeface="Microsoft YaHei"/>
              </a:rPr>
              <a:t>目录</a:t>
            </a:r>
            <a:endParaRPr lang="zh-CN" sz="2300">
              <a:latin typeface="Microsoft YaHei"/>
              <a:ea typeface="Microsoft YaHei"/>
            </a:endParaRPr>
          </a:p>
        </p:txBody>
      </p:sp>
      <p:sp>
        <p:nvSpPr>
          <p:cNvPr id="67" name="agenda-number-0"/>
          <p:cNvSpPr/>
          <p:nvPr/>
        </p:nvSpPr>
        <p:spPr>
          <a:xfrm>
            <a:off x="825500" y="1651000"/>
            <a:ext cx="584200" cy="3175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68" name="agenda-number-text-0"/>
          <p:cNvSpPr txBox="1"/>
          <p:nvPr/>
        </p:nvSpPr>
        <p:spPr>
          <a:xfrm>
            <a:off x="825500" y="1714500"/>
            <a:ext cx="584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00" b="1">
                <a:latin typeface="Microsoft YaHei"/>
                <a:ea typeface="Microsoft YaHei"/>
              </a:rPr>
              <a:t>01</a:t>
            </a:r>
            <a:endParaRPr lang="zh-CN" sz="1000">
              <a:latin typeface="Microsoft YaHei"/>
              <a:ea typeface="Microsoft YaHei"/>
            </a:endParaRPr>
          </a:p>
        </p:txBody>
      </p:sp>
      <p:sp>
        <p:nvSpPr>
          <p:cNvPr id="69" name="agenda-item-0"/>
          <p:cNvSpPr txBox="1"/>
          <p:nvPr/>
        </p:nvSpPr>
        <p:spPr>
          <a:xfrm>
            <a:off x="1651000" y="1701800"/>
            <a:ext cx="4191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500">
                <a:latin typeface="Microsoft YaHei"/>
                <a:ea typeface="Microsoft YaHei"/>
              </a:rPr>
              <a:t>研究背景与问题</a:t>
            </a:r>
          </a:p>
        </p:txBody>
      </p:sp>
      <p:sp>
        <p:nvSpPr>
          <p:cNvPr id="70" name="agenda-number-1"/>
          <p:cNvSpPr/>
          <p:nvPr/>
        </p:nvSpPr>
        <p:spPr>
          <a:xfrm>
            <a:off x="825500" y="2095500"/>
            <a:ext cx="584200" cy="3175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71" name="agenda-number-text-1"/>
          <p:cNvSpPr txBox="1"/>
          <p:nvPr/>
        </p:nvSpPr>
        <p:spPr>
          <a:xfrm>
            <a:off x="825500" y="2159000"/>
            <a:ext cx="584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00" b="1">
                <a:latin typeface="Microsoft YaHei"/>
                <a:ea typeface="Microsoft YaHei"/>
              </a:rPr>
              <a:t>02</a:t>
            </a:r>
            <a:endParaRPr lang="zh-CN" sz="1000">
              <a:latin typeface="Microsoft YaHei"/>
              <a:ea typeface="Microsoft YaHei"/>
            </a:endParaRPr>
          </a:p>
        </p:txBody>
      </p:sp>
      <p:sp>
        <p:nvSpPr>
          <p:cNvPr id="72" name="agenda-item-1"/>
          <p:cNvSpPr txBox="1"/>
          <p:nvPr/>
        </p:nvSpPr>
        <p:spPr>
          <a:xfrm>
            <a:off x="1651000" y="2146300"/>
            <a:ext cx="4191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500">
                <a:latin typeface="Microsoft YaHei"/>
                <a:ea typeface="Microsoft YaHei"/>
              </a:rPr>
              <a:t>开题目标与当前进展</a:t>
            </a:r>
          </a:p>
        </p:txBody>
      </p:sp>
      <p:sp>
        <p:nvSpPr>
          <p:cNvPr id="73" name="agenda-number-2"/>
          <p:cNvSpPr/>
          <p:nvPr/>
        </p:nvSpPr>
        <p:spPr>
          <a:xfrm>
            <a:off x="825500" y="2540000"/>
            <a:ext cx="584200" cy="3175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74" name="agenda-number-text-2"/>
          <p:cNvSpPr txBox="1"/>
          <p:nvPr/>
        </p:nvSpPr>
        <p:spPr>
          <a:xfrm>
            <a:off x="825500" y="2603500"/>
            <a:ext cx="584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00" b="1">
                <a:latin typeface="Microsoft YaHei"/>
                <a:ea typeface="Microsoft YaHei"/>
              </a:rPr>
              <a:t>03</a:t>
            </a:r>
            <a:endParaRPr lang="zh-CN" sz="1000">
              <a:latin typeface="Microsoft YaHei"/>
              <a:ea typeface="Microsoft YaHei"/>
            </a:endParaRPr>
          </a:p>
        </p:txBody>
      </p:sp>
      <p:sp>
        <p:nvSpPr>
          <p:cNvPr id="75" name="agenda-item-2"/>
          <p:cNvSpPr txBox="1"/>
          <p:nvPr/>
        </p:nvSpPr>
        <p:spPr>
          <a:xfrm>
            <a:off x="1651000" y="2590800"/>
            <a:ext cx="4191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500">
                <a:latin typeface="Microsoft YaHei"/>
                <a:ea typeface="Microsoft YaHei"/>
              </a:rPr>
              <a:t>方法与规则库设计</a:t>
            </a:r>
          </a:p>
        </p:txBody>
      </p:sp>
      <p:sp>
        <p:nvSpPr>
          <p:cNvPr id="76" name="agenda-number-3"/>
          <p:cNvSpPr/>
          <p:nvPr/>
        </p:nvSpPr>
        <p:spPr>
          <a:xfrm>
            <a:off x="825500" y="2984500"/>
            <a:ext cx="584200" cy="3175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77" name="agenda-number-text-3"/>
          <p:cNvSpPr txBox="1"/>
          <p:nvPr/>
        </p:nvSpPr>
        <p:spPr>
          <a:xfrm>
            <a:off x="825500" y="3048000"/>
            <a:ext cx="584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00" b="1">
                <a:latin typeface="Microsoft YaHei"/>
                <a:ea typeface="Microsoft YaHei"/>
              </a:rPr>
              <a:t>04</a:t>
            </a:r>
            <a:endParaRPr lang="zh-CN" sz="1000">
              <a:latin typeface="Microsoft YaHei"/>
              <a:ea typeface="Microsoft YaHei"/>
            </a:endParaRPr>
          </a:p>
        </p:txBody>
      </p:sp>
      <p:sp>
        <p:nvSpPr>
          <p:cNvPr id="78" name="agenda-item-3"/>
          <p:cNvSpPr txBox="1"/>
          <p:nvPr/>
        </p:nvSpPr>
        <p:spPr>
          <a:xfrm>
            <a:off x="1651000" y="3035300"/>
            <a:ext cx="4191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500" b="1">
                <a:latin typeface="Microsoft YaHei"/>
                <a:ea typeface="Microsoft YaHei"/>
              </a:rPr>
              <a:t>Preliminary 实验结果</a:t>
            </a:r>
            <a:endParaRPr lang="zh-CN" sz="1500">
              <a:latin typeface="Microsoft YaHei"/>
              <a:ea typeface="Microsoft YaHei"/>
            </a:endParaRPr>
          </a:p>
        </p:txBody>
      </p:sp>
      <p:sp>
        <p:nvSpPr>
          <p:cNvPr id="79" name="agenda-number-4"/>
          <p:cNvSpPr/>
          <p:nvPr/>
        </p:nvSpPr>
        <p:spPr>
          <a:xfrm>
            <a:off x="825500" y="3429000"/>
            <a:ext cx="584200" cy="3175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80" name="agenda-number-text-4"/>
          <p:cNvSpPr txBox="1"/>
          <p:nvPr/>
        </p:nvSpPr>
        <p:spPr>
          <a:xfrm>
            <a:off x="825500" y="3492500"/>
            <a:ext cx="584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00" b="1">
                <a:latin typeface="Microsoft YaHei"/>
                <a:ea typeface="Microsoft YaHei"/>
              </a:rPr>
              <a:t>05</a:t>
            </a:r>
            <a:endParaRPr lang="zh-CN" sz="1000">
              <a:latin typeface="Microsoft YaHei"/>
              <a:ea typeface="Microsoft YaHei"/>
            </a:endParaRPr>
          </a:p>
        </p:txBody>
      </p:sp>
      <p:sp>
        <p:nvSpPr>
          <p:cNvPr id="81" name="agenda-item-4"/>
          <p:cNvSpPr txBox="1"/>
          <p:nvPr/>
        </p:nvSpPr>
        <p:spPr>
          <a:xfrm>
            <a:off x="1651000" y="3479800"/>
            <a:ext cx="4191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500">
                <a:latin typeface="Microsoft YaHei"/>
                <a:ea typeface="Microsoft YaHei"/>
              </a:rPr>
              <a:t>阶段结论与后续计划</a:t>
            </a:r>
          </a:p>
        </p:txBody>
      </p:sp>
    </p:spTree>
  </p:cSld>
  <p:clrMapOvr>
    <a:masterClrMapping/>
  </p:clrMapOvr>
  <p:transition spd="slow" advClick="0" advTm="0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3183732" y="0"/>
            <a:ext cx="5960269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3" name="矩形 15"/>
          <p:cNvSpPr>
            <a:spLocks noChangeArrowheads="1"/>
          </p:cNvSpPr>
          <p:nvPr/>
        </p:nvSpPr>
        <p:spPr bwMode="auto">
          <a:xfrm>
            <a:off x="3006329" y="0"/>
            <a:ext cx="70247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5" name="文本框 52"/>
          <p:cNvSpPr>
            <a:spLocks noChangeArrowheads="1"/>
          </p:cNvSpPr>
          <p:nvPr/>
        </p:nvSpPr>
        <p:spPr bwMode="auto">
          <a:xfrm>
            <a:off x="395537" y="1275161"/>
            <a:ext cx="2502445" cy="65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第一部分</a:t>
            </a:r>
          </a:p>
        </p:txBody>
      </p:sp>
      <p:sp>
        <p:nvSpPr>
          <p:cNvPr id="16" name="TextBox 28"/>
          <p:cNvSpPr txBox="1"/>
          <p:nvPr/>
        </p:nvSpPr>
        <p:spPr>
          <a:xfrm>
            <a:off x="3773160" y="2877051"/>
            <a:ext cx="1492885" cy="297815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marL="213995" indent="-213995" algn="l">
              <a:buFont typeface="Wingdings" panose="05000000000000000000" pitchFamily="2" charset="2"/>
              <a:buChar char="p"/>
            </a:pPr>
            <a:r>
              <a:rPr lang="zh-CN" altLang="en-US" sz="1500" b="1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单击此处输入</a:t>
            </a:r>
            <a:endParaRPr lang="en-US" altLang="zh-CN" sz="150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8" name="TextBox 4"/>
          <p:cNvSpPr txBox="1"/>
          <p:nvPr/>
        </p:nvSpPr>
        <p:spPr>
          <a:xfrm>
            <a:off x="3773160" y="1779662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研究背景与问题</a:t>
            </a:r>
            <a:endParaRPr lang="zh-CN" altLang="en-US" sz="30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pic>
        <p:nvPicPr>
          <p:cNvPr id="2" name="图片 1" descr="zs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5" y="2968625"/>
            <a:ext cx="2988945" cy="2393950"/>
          </a:xfrm>
          <a:prstGeom prst="rect">
            <a:avLst/>
          </a:prstGeom>
        </p:spPr>
      </p:pic>
      <p:sp>
        <p:nvSpPr>
          <p:cNvPr id="30" name="矩形 29"/>
          <p:cNvSpPr/>
          <p:nvPr>
            <p:custDataLst>
              <p:tags r:id="rId2"/>
            </p:custDataLst>
          </p:nvPr>
        </p:nvSpPr>
        <p:spPr>
          <a:xfrm>
            <a:off x="3825914" y="2931791"/>
            <a:ext cx="5319000" cy="200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  <p:sndAc>
      <p:stSnd>
        <p:snd r:embed="rId5" name="hammer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059D-C091-A285-E232-3A2EEAE1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4026146-C492-34DA-163E-3270229B80D7}"/>
              </a:ext>
            </a:extLst>
          </p:cNvPr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D3343D-3BB6-C0E3-A6DE-DA7B7ED4C3CE}"/>
              </a:ext>
            </a:extLst>
          </p:cNvPr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407DA7E-EA4E-614A-BCD7-18D42C11178B}"/>
              </a:ext>
            </a:extLst>
          </p:cNvPr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4D27544-4096-6A75-31AE-EFE0CA59DFBE}"/>
              </a:ext>
            </a:extLst>
          </p:cNvPr>
          <p:cNvSpPr/>
          <p:nvPr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08030FA-8840-F0D3-50BC-D43CA1752F39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6BE8568-04DD-EDE7-97D3-A28F25F0C9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" y="213141"/>
            <a:ext cx="1512169" cy="3932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F122316-C9FD-D838-FF37-487C10AA4379}"/>
              </a:ext>
            </a:extLst>
          </p:cNvPr>
          <p:cNvSpPr txBox="1"/>
          <p:nvPr/>
        </p:nvSpPr>
        <p:spPr>
          <a:xfrm>
            <a:off x="827584" y="987574"/>
            <a:ext cx="756084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工业物联网的确定性需求</a:t>
            </a:r>
            <a:endParaRPr lang="zh-CN" altLang="en-US" sz="1400" dirty="0"/>
          </a:p>
          <a:p>
            <a:pPr lvl="1"/>
            <a:r>
              <a:rPr lang="zh-CN" altLang="en-US" sz="1400" dirty="0"/>
              <a:t>智能制造、闭环控制要求</a:t>
            </a:r>
            <a:r>
              <a:rPr lang="zh-CN" altLang="en-US" sz="1400" b="1" dirty="0"/>
              <a:t>超可靠、低时延</a:t>
            </a:r>
            <a:r>
              <a:rPr lang="zh-CN" altLang="en-US" sz="1400" dirty="0"/>
              <a:t>通信。</a:t>
            </a:r>
          </a:p>
          <a:p>
            <a:pPr lvl="1"/>
            <a:r>
              <a:rPr lang="zh-CN" altLang="en-US" sz="1400" dirty="0"/>
              <a:t>传统“尽力而为”网络无法满足需求。</a:t>
            </a:r>
            <a:endParaRPr lang="en-US" altLang="zh-CN" sz="1400" dirty="0"/>
          </a:p>
          <a:p>
            <a:pPr lvl="1"/>
            <a:endParaRPr lang="zh-CN" altLang="en-US" sz="1400" dirty="0"/>
          </a:p>
          <a:p>
            <a:r>
              <a:rPr lang="zh-CN" altLang="en-US" sz="1400" b="1" dirty="0"/>
              <a:t>时间敏感网络的解决方案</a:t>
            </a:r>
            <a:endParaRPr lang="zh-CN" altLang="en-US" sz="1400" dirty="0"/>
          </a:p>
          <a:p>
            <a:pPr lvl="1"/>
            <a:r>
              <a:rPr lang="en-US" altLang="zh-CN" sz="1400" dirty="0"/>
              <a:t>TSN</a:t>
            </a:r>
            <a:r>
              <a:rPr lang="zh-CN" altLang="en-US" sz="1400" dirty="0"/>
              <a:t>为以太网提供确定性。</a:t>
            </a:r>
          </a:p>
          <a:p>
            <a:pPr lvl="1"/>
            <a:r>
              <a:rPr lang="zh-CN" altLang="en-US" sz="1400" b="1" dirty="0"/>
              <a:t>异步流量整形（</a:t>
            </a:r>
            <a:r>
              <a:rPr lang="en-US" altLang="zh-CN" sz="1400" b="1" dirty="0"/>
              <a:t>ATS</a:t>
            </a:r>
            <a:r>
              <a:rPr lang="zh-CN" altLang="en-US" sz="1400" b="1" dirty="0"/>
              <a:t>）</a:t>
            </a:r>
            <a:r>
              <a:rPr lang="zh-CN" altLang="en-US" sz="1400" dirty="0"/>
              <a:t> 是处理非周期、突发流量的关键技术。</a:t>
            </a:r>
            <a:endParaRPr lang="en-US" altLang="zh-CN" sz="1400" dirty="0"/>
          </a:p>
          <a:p>
            <a:pPr lvl="1"/>
            <a:endParaRPr lang="zh-CN" altLang="en-US" sz="1400" dirty="0"/>
          </a:p>
          <a:p>
            <a:r>
              <a:rPr lang="zh-CN" altLang="en-US" sz="1400" b="1" dirty="0"/>
              <a:t>我们面临的核心问题：</a:t>
            </a:r>
            <a:endParaRPr lang="zh-CN" altLang="en-US" sz="1400" dirty="0"/>
          </a:p>
          <a:p>
            <a:pPr lvl="1"/>
            <a:r>
              <a:rPr lang="zh-CN" altLang="en-US" sz="1400" b="1" dirty="0"/>
              <a:t>动态环境：</a:t>
            </a:r>
            <a:r>
              <a:rPr lang="zh-CN" altLang="en-US" sz="1400" dirty="0"/>
              <a:t> </a:t>
            </a:r>
            <a:r>
              <a:rPr lang="en-US" altLang="zh-CN" sz="1400" dirty="0" err="1"/>
              <a:t>IIoT</a:t>
            </a:r>
            <a:r>
              <a:rPr lang="zh-CN" altLang="en-US" sz="1400" dirty="0"/>
              <a:t>中的任务、流量、拓扑实时变化。</a:t>
            </a:r>
          </a:p>
          <a:p>
            <a:pPr lvl="1"/>
            <a:r>
              <a:rPr lang="zh-CN" altLang="en-US" sz="1400" b="1" dirty="0"/>
              <a:t>静态配置的局限性：</a:t>
            </a:r>
            <a:r>
              <a:rPr lang="zh-CN" altLang="en-US" sz="1400" dirty="0"/>
              <a:t> 固定的</a:t>
            </a:r>
            <a:r>
              <a:rPr lang="en-US" altLang="zh-CN" sz="1400" dirty="0"/>
              <a:t>ATS</a:t>
            </a:r>
            <a:r>
              <a:rPr lang="zh-CN" altLang="en-US" sz="1400" dirty="0"/>
              <a:t>参数（如整形速率、突发容量）在动态环境中性能下降。</a:t>
            </a:r>
          </a:p>
          <a:p>
            <a:pPr lvl="1"/>
            <a:r>
              <a:rPr lang="zh-CN" altLang="en-US" sz="1400" b="1" dirty="0"/>
              <a:t>优化复杂性：</a:t>
            </a:r>
            <a:r>
              <a:rPr lang="zh-CN" altLang="en-US" sz="1400" dirty="0"/>
              <a:t> 使用强化学习等方法难度高、开销大。</a:t>
            </a:r>
            <a:endParaRPr lang="en-US" altLang="zh-CN" sz="1400" dirty="0"/>
          </a:p>
          <a:p>
            <a:pPr lvl="1"/>
            <a:endParaRPr lang="zh-CN" altLang="en-US" sz="1400" dirty="0"/>
          </a:p>
          <a:p>
            <a:r>
              <a:rPr lang="zh-CN" altLang="en-US" sz="1600" b="1" dirty="0">
                <a:solidFill>
                  <a:srgbClr val="FF0000"/>
                </a:solidFill>
              </a:rPr>
              <a:t>核心问题</a:t>
            </a:r>
            <a:r>
              <a:rPr lang="zh-CN" altLang="en-US" sz="1600" b="1" dirty="0"/>
              <a:t>：如何在动态</a:t>
            </a:r>
            <a:r>
              <a:rPr lang="en-US" altLang="zh-CN" sz="1600" b="1" dirty="0" err="1"/>
              <a:t>IIoT</a:t>
            </a:r>
            <a:r>
              <a:rPr lang="zh-CN" altLang="en-US" sz="1600" b="1" dirty="0"/>
              <a:t>环境中，以一种简单、高效的方式实现</a:t>
            </a:r>
            <a:r>
              <a:rPr lang="en-US" altLang="zh-CN" sz="1600" b="1" dirty="0"/>
              <a:t>ATS</a:t>
            </a:r>
            <a:r>
              <a:rPr lang="zh-CN" altLang="en-US" sz="1600" b="1" dirty="0"/>
              <a:t>参数的自适应优化？</a:t>
            </a:r>
            <a:endParaRPr lang="zh-CN" altLang="en-US" sz="1600" dirty="0"/>
          </a:p>
        </p:txBody>
      </p:sp>
      <p:sp>
        <p:nvSpPr>
          <p:cNvPr id="38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" name="slide-title"/>
          <p:cNvSpPr txBox="1"/>
          <p:nvPr/>
        </p:nvSpPr>
        <p:spPr>
          <a:xfrm>
            <a:off x="533400" y="863600"/>
            <a:ext cx="7493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200" b="1">
                <a:latin typeface="Microsoft YaHei"/>
                <a:ea typeface="Microsoft YaHei"/>
              </a:rPr>
              <a:t>ATS 参数静态配置在动态场景下面临失配</a:t>
            </a:r>
            <a:endParaRPr lang="zh-CN" sz="2200">
              <a:latin typeface="Microsoft YaHei"/>
              <a:ea typeface="Microsoft YaHei"/>
            </a:endParaRPr>
          </a:p>
        </p:txBody>
      </p:sp>
      <p:sp>
        <p:nvSpPr>
          <p:cNvPr id="40" name="card-动态工业流量"/>
          <p:cNvSpPr/>
          <p:nvPr/>
        </p:nvSpPr>
        <p:spPr>
          <a:xfrm>
            <a:off x="533400" y="1371600"/>
            <a:ext cx="25146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41" name="accent-动态工业流量"/>
          <p:cNvSpPr/>
          <p:nvPr/>
        </p:nvSpPr>
        <p:spPr>
          <a:xfrm>
            <a:off x="533400" y="1371600"/>
            <a:ext cx="63500" cy="1422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42" name="title-动态工业流量"/>
          <p:cNvSpPr txBox="1"/>
          <p:nvPr/>
        </p:nvSpPr>
        <p:spPr>
          <a:xfrm>
            <a:off x="711200" y="1498600"/>
            <a:ext cx="2197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动态工业流量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43" name="body-动态工业流量"/>
          <p:cNvSpPr txBox="1"/>
          <p:nvPr/>
        </p:nvSpPr>
        <p:spPr>
          <a:xfrm>
            <a:off x="711200" y="1765300"/>
            <a:ext cx="2197100" cy="93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周期控制流、事件告警流与 BE 背景流共存；设备上线、任务切换和突发告警会形成负载高峰。</a:t>
            </a:r>
          </a:p>
        </p:txBody>
      </p:sp>
      <p:sp>
        <p:nvSpPr>
          <p:cNvPr id="44" name="card-固定参数失配"/>
          <p:cNvSpPr/>
          <p:nvPr/>
        </p:nvSpPr>
        <p:spPr>
          <a:xfrm>
            <a:off x="3314700" y="1371600"/>
            <a:ext cx="25146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45" name="accent-固定参数失配"/>
          <p:cNvSpPr/>
          <p:nvPr/>
        </p:nvSpPr>
        <p:spPr>
          <a:xfrm>
            <a:off x="3314700" y="1371600"/>
            <a:ext cx="63500" cy="1422400"/>
          </a:xfrm>
          <a:prstGeom prst="roundRect">
            <a:avLst/>
          </a:prstGeom>
          <a:solidFill>
            <a:srgbClr val="42719B"/>
          </a:solidFill>
          <a:ln>
            <a:noFill/>
          </a:ln>
        </p:spPr>
      </p:sp>
      <p:sp>
        <p:nvSpPr>
          <p:cNvPr id="46" name="title-固定参数失配"/>
          <p:cNvSpPr txBox="1"/>
          <p:nvPr/>
        </p:nvSpPr>
        <p:spPr>
          <a:xfrm>
            <a:off x="3492500" y="1498600"/>
            <a:ext cx="2197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固定参数失配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47" name="body-固定参数失配"/>
          <p:cNvSpPr txBox="1"/>
          <p:nvPr/>
        </p:nvSpPr>
        <p:spPr>
          <a:xfrm>
            <a:off x="3492500" y="1765300"/>
            <a:ext cx="2197100" cy="93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固定 CIR/CBS 在高峰时可能导致排队、丢包和 deadline 违约；在低谷时又可能造成资源过度预留。</a:t>
            </a:r>
          </a:p>
        </p:txBody>
      </p:sp>
      <p:sp>
        <p:nvSpPr>
          <p:cNvPr id="48" name="card-研究问题"/>
          <p:cNvSpPr/>
          <p:nvPr/>
        </p:nvSpPr>
        <p:spPr>
          <a:xfrm>
            <a:off x="6096000" y="1371600"/>
            <a:ext cx="25146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49" name="accent-研究问题"/>
          <p:cNvSpPr/>
          <p:nvPr/>
        </p:nvSpPr>
        <p:spPr>
          <a:xfrm>
            <a:off x="6096000" y="1371600"/>
            <a:ext cx="63500" cy="142240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</p:sp>
      <p:sp>
        <p:nvSpPr>
          <p:cNvPr id="50" name="title-研究问题"/>
          <p:cNvSpPr txBox="1"/>
          <p:nvPr/>
        </p:nvSpPr>
        <p:spPr>
          <a:xfrm>
            <a:off x="6273800" y="1498600"/>
            <a:ext cx="2197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研究问题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51" name="body-研究问题"/>
          <p:cNvSpPr txBox="1"/>
          <p:nvPr/>
        </p:nvSpPr>
        <p:spPr>
          <a:xfrm>
            <a:off x="6273800" y="1765300"/>
            <a:ext cx="2197100" cy="93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如何基于网络状态反馈，轻量、可解释地在线调整 CIR/CBS，并兼顾关键流性能与资源占用？</a:t>
            </a:r>
          </a:p>
        </p:txBody>
      </p:sp>
      <p:sp>
        <p:nvSpPr>
          <p:cNvPr id="52" name="ats-note"/>
          <p:cNvSpPr txBox="1"/>
          <p:nvPr/>
        </p:nvSpPr>
        <p:spPr>
          <a:xfrm>
            <a:off x="685800" y="3149600"/>
            <a:ext cx="7620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300" b="1">
                <a:latin typeface="Microsoft YaHei"/>
                <a:ea typeface="Microsoft YaHei"/>
              </a:rPr>
              <a:t>ATS 面向异步、突发流量；本研究关注动态 IIoT 中静态整形参数难以持续适配的问题。</a:t>
            </a:r>
            <a:endParaRPr lang="zh-CN" sz="130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999517267"/>
      </p:ext>
    </p:extLst>
  </p:cSld>
  <p:clrMapOvr>
    <a:masterClrMapping/>
  </p:clrMapOvr>
  <p:transition spd="slow" advClick="0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3183732" y="0"/>
            <a:ext cx="5960269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3" name="矩形 15"/>
          <p:cNvSpPr>
            <a:spLocks noChangeArrowheads="1"/>
          </p:cNvSpPr>
          <p:nvPr/>
        </p:nvSpPr>
        <p:spPr bwMode="auto">
          <a:xfrm>
            <a:off x="3006329" y="0"/>
            <a:ext cx="70247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5" name="文本框 52"/>
          <p:cNvSpPr>
            <a:spLocks noChangeArrowheads="1"/>
          </p:cNvSpPr>
          <p:nvPr/>
        </p:nvSpPr>
        <p:spPr bwMode="auto">
          <a:xfrm>
            <a:off x="395537" y="1275161"/>
            <a:ext cx="2502445" cy="65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第二部分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3779912" y="1851670"/>
            <a:ext cx="2918107" cy="5309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3000" dirty="0">
                <a:solidFill>
                  <a:srgbClr val="0070C0"/>
                </a:solidFill>
                <a:cs typeface="+mn-ea"/>
              </a:rPr>
              <a:t>开题目标与当前进展</a:t>
            </a:r>
            <a:endParaRPr lang="zh-CN" altLang="en-US" sz="30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pic>
        <p:nvPicPr>
          <p:cNvPr id="2" name="图片 1" descr="zs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5" y="2968625"/>
            <a:ext cx="2988945" cy="2393950"/>
          </a:xfrm>
          <a:prstGeom prst="rect">
            <a:avLst/>
          </a:prstGeom>
        </p:spPr>
      </p:pic>
      <p:sp>
        <p:nvSpPr>
          <p:cNvPr id="30" name="矩形 29"/>
          <p:cNvSpPr/>
          <p:nvPr>
            <p:custDataLst>
              <p:tags r:id="rId2"/>
            </p:custDataLst>
          </p:nvPr>
        </p:nvSpPr>
        <p:spPr>
          <a:xfrm>
            <a:off x="3825914" y="2931791"/>
            <a:ext cx="5319000" cy="200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  <p:sndAc>
      <p:stSnd>
        <p:snd r:embed="rId5" name="hammer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09B84-B61C-0F36-845E-D65D6335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A24F8085-D0AE-76C9-D5E0-5500EA3E50C1}"/>
              </a:ext>
            </a:extLst>
          </p:cNvPr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E5723DE-3FAA-1972-2720-1A552788CDF7}"/>
              </a:ext>
            </a:extLst>
          </p:cNvPr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B9EF284-A703-5166-6C9B-1E823AC31584}"/>
              </a:ext>
            </a:extLst>
          </p:cNvPr>
          <p:cNvSpPr/>
          <p:nvPr/>
        </p:nvSpPr>
        <p:spPr>
          <a:xfrm>
            <a:off x="7629478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4203D5E-FD2E-0A7A-F929-56493ECAAD21}"/>
              </a:ext>
            </a:extLst>
          </p:cNvPr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C55AF73-5D95-9846-A603-4244EEB74C19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33DCDE-667E-E39E-4563-DCD8869730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7E3FD6-EE7F-43BD-C529-9AA56DA9C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950212"/>
              </p:ext>
            </p:extLst>
          </p:nvPr>
        </p:nvGraphicFramePr>
        <p:xfrm>
          <a:off x="716002" y="918990"/>
          <a:ext cx="7704854" cy="3452960"/>
        </p:xfrm>
        <a:graphic>
          <a:graphicData uri="http://schemas.openxmlformats.org/drawingml/2006/table">
            <a:tbl>
              <a:tblPr/>
              <a:tblGrid>
                <a:gridCol w="831662">
                  <a:extLst>
                    <a:ext uri="{9D8B030D-6E8A-4147-A177-3AD203B41FA5}">
                      <a16:colId xmlns:a16="http://schemas.microsoft.com/office/drawing/2014/main" val="411548882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613746818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828970725"/>
                    </a:ext>
                  </a:extLst>
                </a:gridCol>
                <a:gridCol w="1912147">
                  <a:extLst>
                    <a:ext uri="{9D8B030D-6E8A-4147-A177-3AD203B41FA5}">
                      <a16:colId xmlns:a16="http://schemas.microsoft.com/office/drawing/2014/main" val="1482739328"/>
                    </a:ext>
                  </a:extLst>
                </a:gridCol>
                <a:gridCol w="1576669">
                  <a:extLst>
                    <a:ext uri="{9D8B030D-6E8A-4147-A177-3AD203B41FA5}">
                      <a16:colId xmlns:a16="http://schemas.microsoft.com/office/drawing/2014/main" val="3000982249"/>
                    </a:ext>
                  </a:extLst>
                </a:gridCol>
              </a:tblGrid>
              <a:tr h="34650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研究方向</a:t>
                      </a:r>
                    </a:p>
                  </a:txBody>
                  <a:tcPr marL="69242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代表研究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方法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核心思想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优势与启发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局限性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12511"/>
                  </a:ext>
                </a:extLst>
              </a:tr>
              <a:tr h="6812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  <a:latin typeface="quote-cjk-patch"/>
                        </a:rPr>
                        <a:t>机制改进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69242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50" b="0" dirty="0">
                          <a:effectLst/>
                          <a:latin typeface="quote-cjk-patch"/>
                        </a:rPr>
                        <a:t>Lübeck et al.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分析并规避</a:t>
                      </a:r>
                      <a:r>
                        <a:rPr lang="en-US" altLang="zh-CN" sz="1050" b="0">
                          <a:effectLst/>
                          <a:latin typeface="quote-cjk-patch"/>
                        </a:rPr>
                        <a:t>ATS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在非</a:t>
                      </a:r>
                      <a:r>
                        <a:rPr lang="en-US" altLang="zh-CN" sz="1050" b="0">
                          <a:effectLst/>
                          <a:latin typeface="quote-cjk-patch"/>
                        </a:rPr>
                        <a:t>FIFO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系统中的无界延迟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揭示了在高可靠场景下</a:t>
                      </a:r>
                      <a:r>
                        <a:rPr lang="en-US" altLang="zh-CN" sz="1050" b="0">
                          <a:effectLst/>
                          <a:latin typeface="quote-cjk-patch"/>
                        </a:rPr>
                        <a:t>ATS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配置的精细性要求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问题相对特定，非普适性方案</a:t>
                      </a:r>
                    </a:p>
                  </a:txBody>
                  <a:tcPr marL="92323" marR="69242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039707"/>
                  </a:ext>
                </a:extLst>
              </a:tr>
              <a:tr h="8720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>
                          <a:effectLst/>
                          <a:latin typeface="quote-cjk-patch"/>
                        </a:rPr>
                        <a:t>混合整形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69242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李琳 </a:t>
                      </a:r>
                      <a:r>
                        <a:rPr lang="en-US" sz="1050" b="0" dirty="0">
                          <a:effectLst/>
                          <a:latin typeface="quote-cjk-patch"/>
                        </a:rPr>
                        <a:t>et al. HTS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为不同类型流量匹配不同的整形机制（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TAS/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信用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令牌桶）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通过异构架构兼顾确定性与灵活性，提供系统级设计思路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参数配置依然复杂，动态性考虑不足</a:t>
                      </a:r>
                    </a:p>
                  </a:txBody>
                  <a:tcPr marL="92323" marR="69242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101088"/>
                  </a:ext>
                </a:extLst>
              </a:tr>
              <a:tr h="6812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>
                          <a:effectLst/>
                          <a:latin typeface="quote-cjk-patch"/>
                        </a:rPr>
                        <a:t>参数优化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69242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50" b="0">
                          <a:effectLst/>
                          <a:latin typeface="quote-cjk-patch"/>
                        </a:rPr>
                        <a:t>Yoshimura &amp; Ito (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数值优化</a:t>
                      </a:r>
                      <a:r>
                        <a:rPr lang="en-US" altLang="zh-CN" sz="1050" b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使用下坡单纯形法离线计算最优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ATS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参数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在稳定场景下可实现精确优化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>
                          <a:effectLst/>
                          <a:latin typeface="quote-cjk-patch"/>
                        </a:rPr>
                        <a:t>静态配置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，无法应对网络动态变化</a:t>
                      </a:r>
                    </a:p>
                  </a:txBody>
                  <a:tcPr marL="92323" marR="69242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214934"/>
                  </a:ext>
                </a:extLst>
              </a:tr>
              <a:tr h="8720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>
                          <a:effectLst/>
                          <a:latin typeface="quote-cjk-patch"/>
                        </a:rPr>
                        <a:t>自适应策略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69242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50" b="0" dirty="0">
                          <a:effectLst/>
                          <a:latin typeface="quote-cjk-patch"/>
                        </a:rPr>
                        <a:t>Wu et al. (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队列理论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  <a:latin typeface="quote-cjk-patch"/>
                        </a:rPr>
                        <a:t>基于队列状态（如长度）动态调整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令牌桶参数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>
                          <a:effectLst/>
                          <a:latin typeface="quote-cjk-patch"/>
                        </a:rPr>
                        <a:t>提供了</a:t>
                      </a:r>
                      <a:r>
                        <a:rPr lang="en-US" altLang="zh-CN" sz="1050" b="1">
                          <a:effectLst/>
                          <a:latin typeface="quote-cjk-patch"/>
                        </a:rPr>
                        <a:t>"</a:t>
                      </a:r>
                      <a:r>
                        <a:rPr lang="zh-CN" altLang="en-US" sz="1050" b="1">
                          <a:effectLst/>
                          <a:latin typeface="quote-cjk-patch"/>
                        </a:rPr>
                        <a:t>监控</a:t>
                      </a:r>
                      <a:r>
                        <a:rPr lang="en-US" altLang="zh-CN" sz="1050" b="1">
                          <a:effectLst/>
                          <a:latin typeface="quote-cjk-patch"/>
                        </a:rPr>
                        <a:t>-</a:t>
                      </a:r>
                      <a:r>
                        <a:rPr lang="zh-CN" altLang="en-US" sz="1050" b="1">
                          <a:effectLst/>
                          <a:latin typeface="quote-cjk-patch"/>
                        </a:rPr>
                        <a:t>反馈</a:t>
                      </a:r>
                      <a:r>
                        <a:rPr lang="en-US" altLang="zh-CN" sz="1050" b="1">
                          <a:effectLst/>
                          <a:latin typeface="quote-cjk-patch"/>
                        </a:rPr>
                        <a:t>-</a:t>
                      </a:r>
                      <a:r>
                        <a:rPr lang="zh-CN" altLang="en-US" sz="1050" b="1">
                          <a:effectLst/>
                          <a:latin typeface="quote-cjk-patch"/>
                        </a:rPr>
                        <a:t>调整</a:t>
                      </a:r>
                      <a:r>
                        <a:rPr lang="en-US" altLang="zh-CN" sz="1050" b="1">
                          <a:effectLst/>
                          <a:latin typeface="quote-cjk-patch"/>
                        </a:rPr>
                        <a:t>"</a:t>
                      </a:r>
                      <a:r>
                        <a:rPr lang="zh-CN" altLang="en-US" sz="1050" b="0">
                          <a:effectLst/>
                          <a:latin typeface="quote-cjk-patch"/>
                        </a:rPr>
                        <a:t> 的轻量化自适应范式，计算开销小</a:t>
                      </a:r>
                    </a:p>
                  </a:txBody>
                  <a:tcPr marL="92323" marR="92323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研究并非直接针对</a:t>
                      </a:r>
                      <a:r>
                        <a:rPr lang="en-US" altLang="zh-CN" sz="1050" b="0" dirty="0">
                          <a:effectLst/>
                          <a:latin typeface="quote-cjk-patch"/>
                        </a:rPr>
                        <a:t>ATS</a:t>
                      </a:r>
                      <a:r>
                        <a:rPr lang="zh-CN" altLang="en-US" sz="1050" b="0" dirty="0">
                          <a:effectLst/>
                          <a:latin typeface="quote-cjk-patch"/>
                        </a:rPr>
                        <a:t>，需进一步适配验证</a:t>
                      </a:r>
                    </a:p>
                  </a:txBody>
                  <a:tcPr marL="92323" marR="69242" marT="57702" marB="577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009362"/>
                  </a:ext>
                </a:extLst>
              </a:tr>
            </a:tbl>
          </a:graphicData>
        </a:graphic>
      </p:graphicFrame>
      <p:sp>
        <p:nvSpPr>
          <p:cNvPr id="44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slide-title"/>
          <p:cNvSpPr txBox="1"/>
          <p:nvPr/>
        </p:nvSpPr>
        <p:spPr>
          <a:xfrm>
            <a:off x="533400" y="863600"/>
            <a:ext cx="7493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200" b="1">
                <a:latin typeface="Microsoft YaHei"/>
                <a:ea typeface="Microsoft YaHei"/>
              </a:rPr>
              <a:t>开题目标与当前阶段进展</a:t>
            </a:r>
            <a:endParaRPr lang="zh-CN" sz="2200">
              <a:latin typeface="Microsoft YaHei"/>
              <a:ea typeface="Microsoft YaHei"/>
            </a:endParaRPr>
          </a:p>
        </p:txBody>
      </p:sp>
      <p:sp>
        <p:nvSpPr>
          <p:cNvPr id="46" name="table-header-开题目标"/>
          <p:cNvSpPr/>
          <p:nvPr/>
        </p:nvSpPr>
        <p:spPr>
          <a:xfrm>
            <a:off x="533400" y="1371600"/>
            <a:ext cx="1333500" cy="304800"/>
          </a:xfrm>
          <a:prstGeom prst="rect">
            <a:avLst/>
          </a:prstGeom>
          <a:solidFill>
            <a:srgbClr val="3E3D4F"/>
          </a:solidFill>
          <a:ln w="9525">
            <a:solidFill>
              <a:srgbClr val="FFFFFF"/>
            </a:solidFill>
          </a:ln>
        </p:spPr>
      </p:sp>
      <p:sp>
        <p:nvSpPr>
          <p:cNvPr id="47" name="table-header-text-开题目标"/>
          <p:cNvSpPr txBox="1"/>
          <p:nvPr/>
        </p:nvSpPr>
        <p:spPr>
          <a:xfrm>
            <a:off x="596900" y="1435100"/>
            <a:ext cx="12065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 b="1">
                <a:latin typeface="Microsoft YaHei"/>
                <a:ea typeface="Microsoft YaHei"/>
              </a:rPr>
              <a:t>开题目标</a:t>
            </a:r>
            <a:endParaRPr lang="zh-CN" sz="1050">
              <a:latin typeface="Microsoft YaHei"/>
              <a:ea typeface="Microsoft YaHei"/>
            </a:endParaRPr>
          </a:p>
        </p:txBody>
      </p:sp>
      <p:sp>
        <p:nvSpPr>
          <p:cNvPr id="48" name="table-header-当前阶段产出"/>
          <p:cNvSpPr/>
          <p:nvPr/>
        </p:nvSpPr>
        <p:spPr>
          <a:xfrm>
            <a:off x="1866900" y="1371600"/>
            <a:ext cx="4851400" cy="304800"/>
          </a:xfrm>
          <a:prstGeom prst="rect">
            <a:avLst/>
          </a:prstGeom>
          <a:solidFill>
            <a:srgbClr val="3E3D4F"/>
          </a:solidFill>
          <a:ln w="9525">
            <a:solidFill>
              <a:srgbClr val="FFFFFF"/>
            </a:solidFill>
          </a:ln>
        </p:spPr>
      </p:sp>
      <p:sp>
        <p:nvSpPr>
          <p:cNvPr id="49" name="table-header-text-当前阶段产出"/>
          <p:cNvSpPr txBox="1"/>
          <p:nvPr/>
        </p:nvSpPr>
        <p:spPr>
          <a:xfrm>
            <a:off x="1930400" y="1435100"/>
            <a:ext cx="47244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 b="1">
                <a:latin typeface="Microsoft YaHei"/>
                <a:ea typeface="Microsoft YaHei"/>
              </a:rPr>
              <a:t>当前阶段产出</a:t>
            </a:r>
            <a:endParaRPr lang="zh-CN" sz="1050">
              <a:latin typeface="Microsoft YaHei"/>
              <a:ea typeface="Microsoft YaHei"/>
            </a:endParaRPr>
          </a:p>
        </p:txBody>
      </p:sp>
      <p:sp>
        <p:nvSpPr>
          <p:cNvPr id="50" name="table-header-状态"/>
          <p:cNvSpPr/>
          <p:nvPr/>
        </p:nvSpPr>
        <p:spPr>
          <a:xfrm>
            <a:off x="6718300" y="1371600"/>
            <a:ext cx="1422400" cy="304800"/>
          </a:xfrm>
          <a:prstGeom prst="rect">
            <a:avLst/>
          </a:prstGeom>
          <a:solidFill>
            <a:srgbClr val="3E3D4F"/>
          </a:solidFill>
          <a:ln w="9525">
            <a:solidFill>
              <a:srgbClr val="FFFFFF"/>
            </a:solidFill>
          </a:ln>
        </p:spPr>
      </p:sp>
      <p:sp>
        <p:nvSpPr>
          <p:cNvPr id="51" name="table-header-text-状态"/>
          <p:cNvSpPr txBox="1"/>
          <p:nvPr/>
        </p:nvSpPr>
        <p:spPr>
          <a:xfrm>
            <a:off x="6781800" y="1435100"/>
            <a:ext cx="12954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 b="1">
                <a:latin typeface="Microsoft YaHei"/>
                <a:ea typeface="Microsoft YaHei"/>
              </a:rPr>
              <a:t>状态</a:t>
            </a:r>
            <a:endParaRPr lang="zh-CN" sz="1050">
              <a:latin typeface="Microsoft YaHei"/>
              <a:ea typeface="Microsoft YaHei"/>
            </a:endParaRPr>
          </a:p>
        </p:txBody>
      </p:sp>
      <p:sp>
        <p:nvSpPr>
          <p:cNvPr id="52" name="table-goal-0"/>
          <p:cNvSpPr/>
          <p:nvPr/>
        </p:nvSpPr>
        <p:spPr>
          <a:xfrm>
            <a:off x="533400" y="1676400"/>
            <a:ext cx="13335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3" name="table-text-goal-0"/>
          <p:cNvSpPr txBox="1"/>
          <p:nvPr/>
        </p:nvSpPr>
        <p:spPr>
          <a:xfrm>
            <a:off x="596900" y="17653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参数建模</a:t>
            </a:r>
          </a:p>
        </p:txBody>
      </p:sp>
      <p:sp>
        <p:nvSpPr>
          <p:cNvPr id="54" name="table-progress-0"/>
          <p:cNvSpPr/>
          <p:nvPr/>
        </p:nvSpPr>
        <p:spPr>
          <a:xfrm>
            <a:off x="1866900" y="1676400"/>
            <a:ext cx="4851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5" name="table-text-progress-0"/>
          <p:cNvSpPr txBox="1"/>
          <p:nvPr/>
        </p:nvSpPr>
        <p:spPr>
          <a:xfrm>
            <a:off x="1930400" y="17653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(r,b) → (CIR,CBS,MRT)</a:t>
            </a:r>
          </a:p>
        </p:txBody>
      </p:sp>
      <p:sp>
        <p:nvSpPr>
          <p:cNvPr id="56" name="table-status-0"/>
          <p:cNvSpPr/>
          <p:nvPr/>
        </p:nvSpPr>
        <p:spPr>
          <a:xfrm>
            <a:off x="6718300" y="1676400"/>
            <a:ext cx="1422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7" name="table-text-status-0"/>
          <p:cNvSpPr txBox="1"/>
          <p:nvPr/>
        </p:nvSpPr>
        <p:spPr>
          <a:xfrm>
            <a:off x="6781800" y="17653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 b="1">
                <a:latin typeface="Microsoft YaHei"/>
                <a:ea typeface="Microsoft YaHei"/>
              </a:rPr>
              <a:t>已完成</a:t>
            </a:r>
            <a:endParaRPr lang="zh-CN" sz="930">
              <a:latin typeface="Microsoft YaHei"/>
              <a:ea typeface="Microsoft YaHei"/>
            </a:endParaRPr>
          </a:p>
        </p:txBody>
      </p:sp>
      <p:sp>
        <p:nvSpPr>
          <p:cNvPr id="58" name="table-goal-1"/>
          <p:cNvSpPr/>
          <p:nvPr/>
        </p:nvSpPr>
        <p:spPr>
          <a:xfrm>
            <a:off x="533400" y="2070100"/>
            <a:ext cx="13335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59" name="table-text-goal-1"/>
          <p:cNvSpPr txBox="1"/>
          <p:nvPr/>
        </p:nvSpPr>
        <p:spPr>
          <a:xfrm>
            <a:off x="596900" y="21590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动态场景</a:t>
            </a:r>
          </a:p>
        </p:txBody>
      </p:sp>
      <p:sp>
        <p:nvSpPr>
          <p:cNvPr id="60" name="table-progress-1"/>
          <p:cNvSpPr/>
          <p:nvPr/>
        </p:nvSpPr>
        <p:spPr>
          <a:xfrm>
            <a:off x="1866900" y="2070100"/>
            <a:ext cx="4851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61" name="table-text-progress-1"/>
          <p:cNvSpPr txBox="1"/>
          <p:nvPr/>
        </p:nvSpPr>
        <p:spPr>
          <a:xfrm>
            <a:off x="1930400" y="21590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低负载—高峰—ET burst—回落</a:t>
            </a:r>
          </a:p>
        </p:txBody>
      </p:sp>
      <p:sp>
        <p:nvSpPr>
          <p:cNvPr id="62" name="table-status-1"/>
          <p:cNvSpPr/>
          <p:nvPr/>
        </p:nvSpPr>
        <p:spPr>
          <a:xfrm>
            <a:off x="6718300" y="2070100"/>
            <a:ext cx="1422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63" name="table-text-status-1"/>
          <p:cNvSpPr txBox="1"/>
          <p:nvPr/>
        </p:nvSpPr>
        <p:spPr>
          <a:xfrm>
            <a:off x="6781800" y="21590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 b="1">
                <a:latin typeface="Microsoft YaHei"/>
                <a:ea typeface="Microsoft YaHei"/>
              </a:rPr>
              <a:t>已完成</a:t>
            </a:r>
            <a:endParaRPr lang="zh-CN" sz="930">
              <a:latin typeface="Microsoft YaHei"/>
              <a:ea typeface="Microsoft YaHei"/>
            </a:endParaRPr>
          </a:p>
        </p:txBody>
      </p:sp>
      <p:sp>
        <p:nvSpPr>
          <p:cNvPr id="64" name="table-goal-2"/>
          <p:cNvSpPr/>
          <p:nvPr/>
        </p:nvSpPr>
        <p:spPr>
          <a:xfrm>
            <a:off x="533400" y="2463800"/>
            <a:ext cx="13335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5" name="table-text-goal-2"/>
          <p:cNvSpPr txBox="1"/>
          <p:nvPr/>
        </p:nvSpPr>
        <p:spPr>
          <a:xfrm>
            <a:off x="596900" y="25527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规则库</a:t>
            </a:r>
          </a:p>
        </p:txBody>
      </p:sp>
      <p:sp>
        <p:nvSpPr>
          <p:cNvPr id="66" name="table-progress-2"/>
          <p:cNvSpPr/>
          <p:nvPr/>
        </p:nvSpPr>
        <p:spPr>
          <a:xfrm>
            <a:off x="1866900" y="2463800"/>
            <a:ext cx="4851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7" name="table-text-progress-2"/>
          <p:cNvSpPr txBox="1"/>
          <p:nvPr/>
        </p:nvSpPr>
        <p:spPr>
          <a:xfrm>
            <a:off x="1930400" y="25527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R1–R6、cooldown、防抖、R4 迟滞</a:t>
            </a:r>
          </a:p>
        </p:txBody>
      </p:sp>
      <p:sp>
        <p:nvSpPr>
          <p:cNvPr id="68" name="table-status-2"/>
          <p:cNvSpPr/>
          <p:nvPr/>
        </p:nvSpPr>
        <p:spPr>
          <a:xfrm>
            <a:off x="6718300" y="2463800"/>
            <a:ext cx="1422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9" name="table-text-status-2"/>
          <p:cNvSpPr txBox="1"/>
          <p:nvPr/>
        </p:nvSpPr>
        <p:spPr>
          <a:xfrm>
            <a:off x="6781800" y="25527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 b="1">
                <a:latin typeface="Microsoft YaHei"/>
                <a:ea typeface="Microsoft YaHei"/>
              </a:rPr>
              <a:t>已完成初版</a:t>
            </a:r>
            <a:endParaRPr lang="zh-CN" sz="930">
              <a:latin typeface="Microsoft YaHei"/>
              <a:ea typeface="Microsoft YaHei"/>
            </a:endParaRPr>
          </a:p>
        </p:txBody>
      </p:sp>
      <p:sp>
        <p:nvSpPr>
          <p:cNvPr id="70" name="table-goal-3"/>
          <p:cNvSpPr/>
          <p:nvPr/>
        </p:nvSpPr>
        <p:spPr>
          <a:xfrm>
            <a:off x="533400" y="2857500"/>
            <a:ext cx="13335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71" name="table-text-goal-3"/>
          <p:cNvSpPr txBox="1"/>
          <p:nvPr/>
        </p:nvSpPr>
        <p:spPr>
          <a:xfrm>
            <a:off x="596900" y="29464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对比实验</a:t>
            </a:r>
          </a:p>
        </p:txBody>
      </p:sp>
      <p:sp>
        <p:nvSpPr>
          <p:cNvPr id="72" name="table-progress-3"/>
          <p:cNvSpPr/>
          <p:nvPr/>
        </p:nvSpPr>
        <p:spPr>
          <a:xfrm>
            <a:off x="1866900" y="2857500"/>
            <a:ext cx="4851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73" name="table-text-progress-3"/>
          <p:cNvSpPr txBox="1"/>
          <p:nvPr/>
        </p:nvSpPr>
        <p:spPr>
          <a:xfrm>
            <a:off x="1930400" y="29464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四组 baseline + CIR/CBS 离散网格</a:t>
            </a:r>
          </a:p>
        </p:txBody>
      </p:sp>
      <p:sp>
        <p:nvSpPr>
          <p:cNvPr id="74" name="table-status-3"/>
          <p:cNvSpPr/>
          <p:nvPr/>
        </p:nvSpPr>
        <p:spPr>
          <a:xfrm>
            <a:off x="6718300" y="2857500"/>
            <a:ext cx="1422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75" name="table-text-status-3"/>
          <p:cNvSpPr txBox="1"/>
          <p:nvPr/>
        </p:nvSpPr>
        <p:spPr>
          <a:xfrm>
            <a:off x="6781800" y="29464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 b="1">
                <a:latin typeface="Microsoft YaHei"/>
                <a:ea typeface="Microsoft YaHei"/>
              </a:rPr>
              <a:t>已完成 PoC</a:t>
            </a:r>
            <a:endParaRPr lang="zh-CN" sz="930">
              <a:latin typeface="Microsoft YaHei"/>
              <a:ea typeface="Microsoft YaHei"/>
            </a:endParaRPr>
          </a:p>
        </p:txBody>
      </p:sp>
      <p:sp>
        <p:nvSpPr>
          <p:cNvPr id="76" name="table-goal-4"/>
          <p:cNvSpPr/>
          <p:nvPr/>
        </p:nvSpPr>
        <p:spPr>
          <a:xfrm>
            <a:off x="533400" y="3251200"/>
            <a:ext cx="13335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77" name="table-text-goal-4"/>
          <p:cNvSpPr txBox="1"/>
          <p:nvPr/>
        </p:nvSpPr>
        <p:spPr>
          <a:xfrm>
            <a:off x="596900" y="33401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规则预标定</a:t>
            </a:r>
          </a:p>
        </p:txBody>
      </p:sp>
      <p:sp>
        <p:nvSpPr>
          <p:cNvPr id="78" name="table-progress-4"/>
          <p:cNvSpPr/>
          <p:nvPr/>
        </p:nvSpPr>
        <p:spPr>
          <a:xfrm>
            <a:off x="1866900" y="3251200"/>
            <a:ext cx="4851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79" name="table-text-progress-4"/>
          <p:cNvSpPr txBox="1"/>
          <p:nvPr/>
        </p:nvSpPr>
        <p:spPr>
          <a:xfrm>
            <a:off x="1930400" y="33401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四个参数变体的小型探索性筛选</a:t>
            </a:r>
          </a:p>
        </p:txBody>
      </p:sp>
      <p:sp>
        <p:nvSpPr>
          <p:cNvPr id="80" name="table-status-4"/>
          <p:cNvSpPr/>
          <p:nvPr/>
        </p:nvSpPr>
        <p:spPr>
          <a:xfrm>
            <a:off x="6718300" y="3251200"/>
            <a:ext cx="1422400" cy="39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81" name="table-text-status-4"/>
          <p:cNvSpPr txBox="1"/>
          <p:nvPr/>
        </p:nvSpPr>
        <p:spPr>
          <a:xfrm>
            <a:off x="6781800" y="33401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 b="1">
                <a:latin typeface="Microsoft YaHei"/>
                <a:ea typeface="Microsoft YaHei"/>
              </a:rPr>
              <a:t>已完成</a:t>
            </a:r>
            <a:endParaRPr lang="zh-CN" sz="930">
              <a:latin typeface="Microsoft YaHei"/>
              <a:ea typeface="Microsoft YaHei"/>
            </a:endParaRPr>
          </a:p>
        </p:txBody>
      </p:sp>
      <p:sp>
        <p:nvSpPr>
          <p:cNvPr id="82" name="table-goal-5"/>
          <p:cNvSpPr/>
          <p:nvPr/>
        </p:nvSpPr>
        <p:spPr>
          <a:xfrm>
            <a:off x="533400" y="3644900"/>
            <a:ext cx="13335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83" name="table-text-goal-5"/>
          <p:cNvSpPr txBox="1"/>
          <p:nvPr/>
        </p:nvSpPr>
        <p:spPr>
          <a:xfrm>
            <a:off x="596900" y="3733800"/>
            <a:ext cx="1206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高保真验证</a:t>
            </a:r>
          </a:p>
        </p:txBody>
      </p:sp>
      <p:sp>
        <p:nvSpPr>
          <p:cNvPr id="84" name="table-progress-5"/>
          <p:cNvSpPr/>
          <p:nvPr/>
        </p:nvSpPr>
        <p:spPr>
          <a:xfrm>
            <a:off x="1866900" y="3644900"/>
            <a:ext cx="4851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85" name="table-text-progress-5"/>
          <p:cNvSpPr txBox="1"/>
          <p:nvPr/>
        </p:nvSpPr>
        <p:spPr>
          <a:xfrm>
            <a:off x="1930400" y="3733800"/>
            <a:ext cx="472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>
                <a:latin typeface="Microsoft YaHei"/>
                <a:ea typeface="Microsoft YaHei"/>
              </a:rPr>
              <a:t>OMNeT++/INET ATS 迁移与正式实验</a:t>
            </a:r>
          </a:p>
        </p:txBody>
      </p:sp>
      <p:sp>
        <p:nvSpPr>
          <p:cNvPr id="86" name="table-status-5"/>
          <p:cNvSpPr/>
          <p:nvPr/>
        </p:nvSpPr>
        <p:spPr>
          <a:xfrm>
            <a:off x="6718300" y="3644900"/>
            <a:ext cx="1422400" cy="3937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87" name="table-text-status-5"/>
          <p:cNvSpPr txBox="1"/>
          <p:nvPr/>
        </p:nvSpPr>
        <p:spPr>
          <a:xfrm>
            <a:off x="6781800" y="3733800"/>
            <a:ext cx="1295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30" b="1">
                <a:latin typeface="Microsoft YaHei"/>
                <a:ea typeface="Microsoft YaHei"/>
              </a:rPr>
              <a:t>后续工作</a:t>
            </a:r>
            <a:endParaRPr lang="zh-CN" sz="93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604279780"/>
      </p:ext>
    </p:extLst>
  </p:cSld>
  <p:clrMapOvr>
    <a:masterClrMapping/>
  </p:clrMapOvr>
  <p:transition spd="slow" advClick="0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D2372-BEB8-6302-901C-1BA2CED5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B982A9-E67D-97A5-E69A-04B571E928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8055E75-580A-A819-D33E-66461B327246}"/>
              </a:ext>
            </a:extLst>
          </p:cNvPr>
          <p:cNvSpPr txBox="1"/>
          <p:nvPr/>
        </p:nvSpPr>
        <p:spPr>
          <a:xfrm>
            <a:off x="1023478" y="1635646"/>
            <a:ext cx="70742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总结</a:t>
            </a:r>
            <a:r>
              <a:rPr lang="zh-CN" altLang="en-US" dirty="0"/>
              <a:t>：当前研究在</a:t>
            </a:r>
            <a:r>
              <a:rPr lang="en-US" altLang="zh-CN" dirty="0"/>
              <a:t>ATS</a:t>
            </a:r>
            <a:r>
              <a:rPr lang="zh-CN" altLang="en-US" dirty="0"/>
              <a:t>的机制深化、混合架构设计以及</a:t>
            </a:r>
            <a:r>
              <a:rPr lang="zh-CN" altLang="en-US" b="1" dirty="0"/>
              <a:t>静态参数优化</a:t>
            </a:r>
            <a:r>
              <a:rPr lang="zh-CN" altLang="en-US" dirty="0"/>
              <a:t>方面已取得扎实进展。在自适应方面，虽有初步探索（如基于队列理论），但将这些</a:t>
            </a:r>
            <a:r>
              <a:rPr lang="zh-CN" altLang="en-US" b="1" dirty="0"/>
              <a:t>轻量级、基于规则的自适应思想专门且系统地应用于</a:t>
            </a:r>
            <a:r>
              <a:rPr lang="en-US" altLang="zh-CN" b="1" dirty="0"/>
              <a:t>ATS</a:t>
            </a:r>
            <a:r>
              <a:rPr lang="zh-CN" altLang="en-US" b="1" dirty="0"/>
              <a:t>核心参数（如整形速率、突发容量）的实时调整</a:t>
            </a:r>
            <a:r>
              <a:rPr lang="zh-CN" altLang="en-US" dirty="0"/>
              <a:t>，仍是一个有待深入的研究领域。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7FC941-074E-B0FC-6347-EB56E8701B8D}"/>
              </a:ext>
            </a:extLst>
          </p:cNvPr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B8D5B1-365A-6151-458A-8941D90444C9}"/>
              </a:ext>
            </a:extLst>
          </p:cNvPr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BD4E9E-AD3D-1F40-3C6C-033B8AE11396}"/>
              </a:ext>
            </a:extLst>
          </p:cNvPr>
          <p:cNvSpPr/>
          <p:nvPr/>
        </p:nvSpPr>
        <p:spPr>
          <a:xfrm>
            <a:off x="7629478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5AAD3E-76AE-8E5C-D36A-2685A5034483}"/>
              </a:ext>
            </a:extLst>
          </p:cNvPr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D3D6CB-49D0-7B19-177F-A0360DD57054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0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slide-title"/>
          <p:cNvSpPr txBox="1"/>
          <p:nvPr/>
        </p:nvSpPr>
        <p:spPr>
          <a:xfrm>
            <a:off x="533400" y="863600"/>
            <a:ext cx="7874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100" b="1">
                <a:latin typeface="Microsoft YaHei"/>
                <a:ea typeface="Microsoft YaHei"/>
              </a:rPr>
              <a:t>文献阅读后的模型修正与 Python PoC 边界</a:t>
            </a:r>
            <a:endParaRPr lang="zh-CN" sz="2100">
              <a:latin typeface="Microsoft YaHei"/>
              <a:ea typeface="Microsoft YaHei"/>
            </a:endParaRPr>
          </a:p>
        </p:txBody>
      </p:sp>
      <p:sp>
        <p:nvSpPr>
          <p:cNvPr id="12" name="card-开题初始描述"/>
          <p:cNvSpPr/>
          <p:nvPr/>
        </p:nvSpPr>
        <p:spPr>
          <a:xfrm>
            <a:off x="660400" y="1422400"/>
            <a:ext cx="22606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13" name="accent-开题初始描述"/>
          <p:cNvSpPr/>
          <p:nvPr/>
        </p:nvSpPr>
        <p:spPr>
          <a:xfrm>
            <a:off x="660400" y="1422400"/>
            <a:ext cx="63500" cy="1143000"/>
          </a:xfrm>
          <a:prstGeom prst="roundRect">
            <a:avLst/>
          </a:prstGeom>
          <a:solidFill>
            <a:srgbClr val="42719B"/>
          </a:solidFill>
          <a:ln>
            <a:noFill/>
          </a:ln>
        </p:spPr>
      </p:sp>
      <p:sp>
        <p:nvSpPr>
          <p:cNvPr id="14" name="title-开题初始描述"/>
          <p:cNvSpPr txBox="1"/>
          <p:nvPr/>
        </p:nvSpPr>
        <p:spPr>
          <a:xfrm>
            <a:off x="838200" y="1549400"/>
            <a:ext cx="1943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开题初始描述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15" name="body-开题初始描述"/>
          <p:cNvSpPr txBox="1"/>
          <p:nvPr/>
        </p:nvSpPr>
        <p:spPr>
          <a:xfrm>
            <a:off x="838200" y="1816100"/>
            <a:ext cx="19431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x = (r, b)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以令牌桶速率与突发容量描述整形参数。</a:t>
            </a:r>
          </a:p>
        </p:txBody>
      </p:sp>
      <p:sp>
        <p:nvSpPr>
          <p:cNvPr id="16" name="arrow-model"/>
          <p:cNvSpPr txBox="1"/>
          <p:nvPr/>
        </p:nvSpPr>
        <p:spPr>
          <a:xfrm>
            <a:off x="3060700" y="1701800"/>
            <a:ext cx="457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3000" b="1">
                <a:latin typeface="Microsoft YaHei"/>
                <a:ea typeface="Microsoft YaHei"/>
              </a:rPr>
              <a:t>→</a:t>
            </a:r>
            <a:endParaRPr lang="zh-CN" sz="3000">
              <a:latin typeface="Microsoft YaHei"/>
              <a:ea typeface="Microsoft YaHei"/>
            </a:endParaRPr>
          </a:p>
        </p:txBody>
      </p:sp>
      <p:sp>
        <p:nvSpPr>
          <p:cNvPr id="17" name="card-文献修正后"/>
          <p:cNvSpPr/>
          <p:nvPr/>
        </p:nvSpPr>
        <p:spPr>
          <a:xfrm>
            <a:off x="3581400" y="1422400"/>
            <a:ext cx="22606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18" name="accent-文献修正后"/>
          <p:cNvSpPr/>
          <p:nvPr/>
        </p:nvSpPr>
        <p:spPr>
          <a:xfrm>
            <a:off x="3581400" y="1422400"/>
            <a:ext cx="63500" cy="1143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9" name="title-文献修正后"/>
          <p:cNvSpPr txBox="1"/>
          <p:nvPr/>
        </p:nvSpPr>
        <p:spPr>
          <a:xfrm>
            <a:off x="3759200" y="1549400"/>
            <a:ext cx="1943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文献修正后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20" name="body-文献修正后"/>
          <p:cNvSpPr txBox="1"/>
          <p:nvPr/>
        </p:nvSpPr>
        <p:spPr>
          <a:xfrm>
            <a:off x="3759200" y="1816100"/>
            <a:ext cx="19431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x = (CIR, CBS, MRT)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采用 ATS 文献中的参数语言。</a:t>
            </a:r>
          </a:p>
        </p:txBody>
      </p:sp>
      <p:sp>
        <p:nvSpPr>
          <p:cNvPr id="21" name="arrow-stage"/>
          <p:cNvSpPr txBox="1"/>
          <p:nvPr/>
        </p:nvSpPr>
        <p:spPr>
          <a:xfrm>
            <a:off x="5981700" y="1701800"/>
            <a:ext cx="457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3000" b="1">
                <a:latin typeface="Microsoft YaHei"/>
                <a:ea typeface="Microsoft YaHei"/>
              </a:rPr>
              <a:t>→</a:t>
            </a:r>
            <a:endParaRPr lang="zh-CN" sz="3000">
              <a:latin typeface="Microsoft YaHei"/>
              <a:ea typeface="Microsoft YaHei"/>
            </a:endParaRPr>
          </a:p>
        </p:txBody>
      </p:sp>
      <p:sp>
        <p:nvSpPr>
          <p:cNvPr id="22" name="card-当前执行范围"/>
          <p:cNvSpPr/>
          <p:nvPr/>
        </p:nvSpPr>
        <p:spPr>
          <a:xfrm>
            <a:off x="6502400" y="1422400"/>
            <a:ext cx="20066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23" name="accent-当前执行范围"/>
          <p:cNvSpPr/>
          <p:nvPr/>
        </p:nvSpPr>
        <p:spPr>
          <a:xfrm>
            <a:off x="6502400" y="1422400"/>
            <a:ext cx="63500" cy="114300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</p:sp>
      <p:sp>
        <p:nvSpPr>
          <p:cNvPr id="24" name="title-当前执行范围"/>
          <p:cNvSpPr txBox="1"/>
          <p:nvPr/>
        </p:nvSpPr>
        <p:spPr>
          <a:xfrm>
            <a:off x="6680200" y="1549400"/>
            <a:ext cx="1689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当前执行范围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25" name="body-当前执行范围"/>
          <p:cNvSpPr txBox="1"/>
          <p:nvPr/>
        </p:nvSpPr>
        <p:spPr>
          <a:xfrm>
            <a:off x="6680200" y="1816100"/>
            <a:ext cx="16891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x_stage1 = (CIR, CBS)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MRT 仅保留为理论/配置占位量。</a:t>
            </a:r>
          </a:p>
        </p:txBody>
      </p:sp>
      <p:sp>
        <p:nvSpPr>
          <p:cNvPr id="26" name="boundary"/>
          <p:cNvSpPr txBox="1"/>
          <p:nvPr/>
        </p:nvSpPr>
        <p:spPr>
          <a:xfrm>
            <a:off x="736600" y="2984500"/>
            <a:ext cx="76200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200">
                <a:latin typeface="Microsoft YaHei"/>
                <a:ea typeface="Microsoft YaHei"/>
              </a:rPr>
              <a:t>Python/SimPy：单跳 CIR/CBS 令牌桶近似，用于规则逻辑与参数范围预筛选。</a:t>
            </a:r>
          </a:p>
          <a:p>
            <a:pPr algn="l"/>
            <a:r>
              <a:rPr lang="zh-CN" sz="1200">
                <a:latin typeface="Microsoft YaHei"/>
                <a:ea typeface="Microsoft YaHei"/>
              </a:rPr>
              <a:t>当前不执行 MRT residence-time/MRT drop 语义；最终结果以 OMNeT++/INET 高保真验证为准。</a:t>
            </a:r>
          </a:p>
        </p:txBody>
      </p:sp>
    </p:spTree>
    <p:extLst>
      <p:ext uri="{BB962C8B-B14F-4D97-AF65-F5344CB8AC3E}">
        <p14:creationId xmlns:p14="http://schemas.microsoft.com/office/powerpoint/2010/main" val="397727336"/>
      </p:ext>
    </p:extLst>
  </p:cSld>
  <p:clrMapOvr>
    <a:masterClrMapping/>
  </p:clrMapOvr>
  <p:transition spd="slow" advClick="0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3183732" y="0"/>
            <a:ext cx="5960269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3" name="矩形 15"/>
          <p:cNvSpPr>
            <a:spLocks noChangeArrowheads="1"/>
          </p:cNvSpPr>
          <p:nvPr/>
        </p:nvSpPr>
        <p:spPr bwMode="auto">
          <a:xfrm>
            <a:off x="3006329" y="0"/>
            <a:ext cx="70247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5" name="文本框 52"/>
          <p:cNvSpPr>
            <a:spLocks noChangeArrowheads="1"/>
          </p:cNvSpPr>
          <p:nvPr/>
        </p:nvSpPr>
        <p:spPr bwMode="auto">
          <a:xfrm>
            <a:off x="395537" y="1275161"/>
            <a:ext cx="2502445" cy="65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第三部分</a:t>
            </a:r>
          </a:p>
        </p:txBody>
      </p:sp>
      <p:sp>
        <p:nvSpPr>
          <p:cNvPr id="14" name="矩形 13"/>
          <p:cNvSpPr/>
          <p:nvPr/>
        </p:nvSpPr>
        <p:spPr>
          <a:xfrm>
            <a:off x="3825914" y="2931791"/>
            <a:ext cx="5319000" cy="200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2" name="图片 1" descr="zs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5" y="2968625"/>
            <a:ext cx="2988945" cy="239395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AE9BBD5A-493E-365E-B1F1-AA88A2CA129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825914" y="1851670"/>
            <a:ext cx="2831544" cy="5309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3000" dirty="0">
                <a:solidFill>
                  <a:srgbClr val="0070C0"/>
                </a:solidFill>
                <a:cs typeface="+mn-ea"/>
                <a:sym typeface="+mn-lt"/>
              </a:rPr>
              <a:t>方法与规则库设计</a:t>
            </a:r>
          </a:p>
        </p:txBody>
      </p:sp>
    </p:spTree>
  </p:cSld>
  <p:clrMapOvr>
    <a:masterClrMapping/>
  </p:clrMapOvr>
  <p:transition spd="med">
    <p:fade/>
    <p:sndAc>
      <p:stSnd>
        <p:snd r:embed="rId5" name="hammer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文本框 34"/>
          <p:cNvSpPr txBox="1"/>
          <p:nvPr>
            <p:custDataLst>
              <p:tags r:id="rId1"/>
            </p:custDataLst>
          </p:nvPr>
        </p:nvSpPr>
        <p:spPr>
          <a:xfrm>
            <a:off x="801444" y="1707654"/>
            <a:ext cx="7541111" cy="923314"/>
          </a:xfrm>
          <a:prstGeom prst="rect">
            <a:avLst/>
          </a:prstGeom>
          <a:noFill/>
        </p:spPr>
        <p:txBody>
          <a:bodyPr wrap="square" lIns="91426" tIns="45712" rIns="91426" bIns="45712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核心思想</a:t>
            </a:r>
            <a:r>
              <a:rPr lang="zh-CN" altLang="en-US" b="1" dirty="0"/>
              <a:t>：</a:t>
            </a:r>
            <a:r>
              <a:rPr lang="zh-CN" altLang="en-US" dirty="0"/>
              <a:t> 将动态</a:t>
            </a:r>
            <a:r>
              <a:rPr lang="en-US" altLang="zh-CN" dirty="0" err="1"/>
              <a:t>IIoT</a:t>
            </a:r>
            <a:r>
              <a:rPr lang="zh-CN" altLang="en-US" dirty="0"/>
              <a:t>中的</a:t>
            </a:r>
            <a:r>
              <a:rPr lang="en-US" altLang="zh-CN" dirty="0"/>
              <a:t>ATS</a:t>
            </a:r>
            <a:r>
              <a:rPr lang="zh-CN" altLang="en-US" dirty="0"/>
              <a:t>参数优化问题建模为一个</a:t>
            </a:r>
            <a:r>
              <a:rPr lang="zh-CN" altLang="en-US" b="1" dirty="0">
                <a:solidFill>
                  <a:srgbClr val="FF0000"/>
                </a:solidFill>
              </a:rPr>
              <a:t>动态多目标优化问题</a:t>
            </a:r>
            <a:r>
              <a:rPr lang="zh-CN" altLang="en-US" dirty="0"/>
              <a:t>，并采用</a:t>
            </a:r>
            <a:r>
              <a:rPr lang="zh-CN" altLang="en-US" b="1" dirty="0">
                <a:solidFill>
                  <a:srgbClr val="FF0000"/>
                </a:solidFill>
              </a:rPr>
              <a:t>自适应启发式算法</a:t>
            </a:r>
            <a:r>
              <a:rPr lang="zh-CN" altLang="en-US" dirty="0"/>
              <a:t>进行在线求解，根据实时网络状态反馈，动态调整</a:t>
            </a:r>
            <a:r>
              <a:rPr lang="en-US" altLang="zh-CN" dirty="0"/>
              <a:t>ATS</a:t>
            </a:r>
            <a:r>
              <a:rPr lang="zh-CN" altLang="en-US" dirty="0"/>
              <a:t>的整形参数。</a:t>
            </a:r>
            <a:endParaRPr lang="en-US" altLang="zh-CN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439E6B-9C4C-AA85-9CB0-F5461F2DA9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44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slide-title"/>
          <p:cNvSpPr txBox="1"/>
          <p:nvPr/>
        </p:nvSpPr>
        <p:spPr>
          <a:xfrm>
            <a:off x="533400" y="863600"/>
            <a:ext cx="7493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200" b="1">
                <a:latin typeface="Microsoft YaHei"/>
                <a:ea typeface="Microsoft YaHei"/>
              </a:rPr>
              <a:t>基于状态反馈的 ATS 参数自适应框架</a:t>
            </a:r>
            <a:endParaRPr lang="zh-CN" sz="2200">
              <a:latin typeface="Microsoft YaHei"/>
              <a:ea typeface="Microsoft YaHei"/>
            </a:endParaRPr>
          </a:p>
        </p:txBody>
      </p:sp>
      <p:sp>
        <p:nvSpPr>
          <p:cNvPr id="46" name="card-framework-0"/>
          <p:cNvSpPr/>
          <p:nvPr/>
        </p:nvSpPr>
        <p:spPr>
          <a:xfrm>
            <a:off x="533400" y="1651000"/>
            <a:ext cx="1371600" cy="1054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47" name="accent-framework-0"/>
          <p:cNvSpPr/>
          <p:nvPr/>
        </p:nvSpPr>
        <p:spPr>
          <a:xfrm>
            <a:off x="533400" y="1651000"/>
            <a:ext cx="63500" cy="1054100"/>
          </a:xfrm>
          <a:prstGeom prst="roundRect">
            <a:avLst/>
          </a:prstGeom>
          <a:solidFill>
            <a:srgbClr val="42719B"/>
          </a:solidFill>
          <a:ln>
            <a:noFill/>
          </a:ln>
        </p:spPr>
      </p:sp>
      <p:sp>
        <p:nvSpPr>
          <p:cNvPr id="48" name="title-framework-0"/>
          <p:cNvSpPr txBox="1"/>
          <p:nvPr/>
        </p:nvSpPr>
        <p:spPr>
          <a:xfrm>
            <a:off x="711200" y="1778000"/>
            <a:ext cx="1054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framework-0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49" name="body-framework-0"/>
          <p:cNvSpPr txBox="1"/>
          <p:nvPr/>
        </p:nvSpPr>
        <p:spPr>
          <a:xfrm>
            <a:off x="711200" y="2044700"/>
            <a:ext cx="1054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动态流量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TT/ET + BE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负载变化 / burst</a:t>
            </a:r>
          </a:p>
        </p:txBody>
      </p:sp>
      <p:sp>
        <p:nvSpPr>
          <p:cNvPr id="50" name="framework-arrow-0"/>
          <p:cNvSpPr txBox="1"/>
          <p:nvPr/>
        </p:nvSpPr>
        <p:spPr>
          <a:xfrm>
            <a:off x="1905000" y="2019300"/>
            <a:ext cx="3048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000" b="1">
                <a:latin typeface="Microsoft YaHei"/>
                <a:ea typeface="Microsoft YaHei"/>
              </a:rPr>
              <a:t>→</a:t>
            </a:r>
            <a:endParaRPr lang="zh-CN" sz="2000">
              <a:latin typeface="Microsoft YaHei"/>
              <a:ea typeface="Microsoft YaHei"/>
            </a:endParaRPr>
          </a:p>
        </p:txBody>
      </p:sp>
      <p:sp>
        <p:nvSpPr>
          <p:cNvPr id="51" name="card-framework-1"/>
          <p:cNvSpPr/>
          <p:nvPr/>
        </p:nvSpPr>
        <p:spPr>
          <a:xfrm>
            <a:off x="2209800" y="1651000"/>
            <a:ext cx="1371600" cy="1054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2" name="accent-framework-1"/>
          <p:cNvSpPr/>
          <p:nvPr/>
        </p:nvSpPr>
        <p:spPr>
          <a:xfrm>
            <a:off x="2209800" y="1651000"/>
            <a:ext cx="63500" cy="10541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3" name="title-framework-1"/>
          <p:cNvSpPr txBox="1"/>
          <p:nvPr/>
        </p:nvSpPr>
        <p:spPr>
          <a:xfrm>
            <a:off x="2387600" y="1778000"/>
            <a:ext cx="1054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framework-1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54" name="body-framework-1"/>
          <p:cNvSpPr txBox="1"/>
          <p:nvPr/>
        </p:nvSpPr>
        <p:spPr>
          <a:xfrm>
            <a:off x="2387600" y="2044700"/>
            <a:ext cx="1054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ATS Shaper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CIR/CBS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单跳近似</a:t>
            </a:r>
          </a:p>
        </p:txBody>
      </p:sp>
      <p:sp>
        <p:nvSpPr>
          <p:cNvPr id="55" name="framework-arrow-1"/>
          <p:cNvSpPr txBox="1"/>
          <p:nvPr/>
        </p:nvSpPr>
        <p:spPr>
          <a:xfrm>
            <a:off x="3581400" y="2019300"/>
            <a:ext cx="3048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000" b="1">
                <a:latin typeface="Microsoft YaHei"/>
                <a:ea typeface="Microsoft YaHei"/>
              </a:rPr>
              <a:t>→</a:t>
            </a:r>
            <a:endParaRPr lang="zh-CN" sz="2000">
              <a:latin typeface="Microsoft YaHei"/>
              <a:ea typeface="Microsoft YaHei"/>
            </a:endParaRPr>
          </a:p>
        </p:txBody>
      </p:sp>
      <p:sp>
        <p:nvSpPr>
          <p:cNvPr id="56" name="card-framework-2"/>
          <p:cNvSpPr/>
          <p:nvPr/>
        </p:nvSpPr>
        <p:spPr>
          <a:xfrm>
            <a:off x="3886200" y="1651000"/>
            <a:ext cx="1371600" cy="1054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7" name="accent-framework-2"/>
          <p:cNvSpPr/>
          <p:nvPr/>
        </p:nvSpPr>
        <p:spPr>
          <a:xfrm>
            <a:off x="3886200" y="1651000"/>
            <a:ext cx="63500" cy="105410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</p:sp>
      <p:sp>
        <p:nvSpPr>
          <p:cNvPr id="58" name="title-framework-2"/>
          <p:cNvSpPr txBox="1"/>
          <p:nvPr/>
        </p:nvSpPr>
        <p:spPr>
          <a:xfrm>
            <a:off x="4064000" y="1778000"/>
            <a:ext cx="1054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framework-2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59" name="body-framework-2"/>
          <p:cNvSpPr txBox="1"/>
          <p:nvPr/>
        </p:nvSpPr>
        <p:spPr>
          <a:xfrm>
            <a:off x="4064000" y="2044700"/>
            <a:ext cx="1054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Monitor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q, λ, d_obs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σ, token, drop</a:t>
            </a:r>
          </a:p>
        </p:txBody>
      </p:sp>
      <p:sp>
        <p:nvSpPr>
          <p:cNvPr id="60" name="framework-arrow-2"/>
          <p:cNvSpPr txBox="1"/>
          <p:nvPr/>
        </p:nvSpPr>
        <p:spPr>
          <a:xfrm>
            <a:off x="5257800" y="2019300"/>
            <a:ext cx="3048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000" b="1">
                <a:latin typeface="Microsoft YaHei"/>
                <a:ea typeface="Microsoft YaHei"/>
              </a:rPr>
              <a:t>→</a:t>
            </a:r>
            <a:endParaRPr lang="zh-CN" sz="2000">
              <a:latin typeface="Microsoft YaHei"/>
              <a:ea typeface="Microsoft YaHei"/>
            </a:endParaRPr>
          </a:p>
        </p:txBody>
      </p:sp>
      <p:sp>
        <p:nvSpPr>
          <p:cNvPr id="61" name="card-framework-3"/>
          <p:cNvSpPr/>
          <p:nvPr/>
        </p:nvSpPr>
        <p:spPr>
          <a:xfrm>
            <a:off x="5562600" y="1651000"/>
            <a:ext cx="1371600" cy="1054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2" name="accent-framework-3"/>
          <p:cNvSpPr/>
          <p:nvPr/>
        </p:nvSpPr>
        <p:spPr>
          <a:xfrm>
            <a:off x="5562600" y="1651000"/>
            <a:ext cx="63500" cy="10541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63" name="title-framework-3"/>
          <p:cNvSpPr txBox="1"/>
          <p:nvPr/>
        </p:nvSpPr>
        <p:spPr>
          <a:xfrm>
            <a:off x="5740400" y="1778000"/>
            <a:ext cx="1054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framework-3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64" name="body-framework-3"/>
          <p:cNvSpPr txBox="1"/>
          <p:nvPr/>
        </p:nvSpPr>
        <p:spPr>
          <a:xfrm>
            <a:off x="5740400" y="2044700"/>
            <a:ext cx="1054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Rule Engine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R1–R6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状态反馈决策</a:t>
            </a:r>
          </a:p>
        </p:txBody>
      </p:sp>
      <p:sp>
        <p:nvSpPr>
          <p:cNvPr id="65" name="framework-arrow-3"/>
          <p:cNvSpPr txBox="1"/>
          <p:nvPr/>
        </p:nvSpPr>
        <p:spPr>
          <a:xfrm>
            <a:off x="6934200" y="2019300"/>
            <a:ext cx="3048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000" b="1">
                <a:latin typeface="Microsoft YaHei"/>
                <a:ea typeface="Microsoft YaHei"/>
              </a:rPr>
              <a:t>→</a:t>
            </a:r>
            <a:endParaRPr lang="zh-CN" sz="2000">
              <a:latin typeface="Microsoft YaHei"/>
              <a:ea typeface="Microsoft YaHei"/>
            </a:endParaRPr>
          </a:p>
        </p:txBody>
      </p:sp>
      <p:sp>
        <p:nvSpPr>
          <p:cNvPr id="66" name="card-framework-4"/>
          <p:cNvSpPr/>
          <p:nvPr/>
        </p:nvSpPr>
        <p:spPr>
          <a:xfrm>
            <a:off x="7239000" y="1651000"/>
            <a:ext cx="1371600" cy="1054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7" name="accent-framework-4"/>
          <p:cNvSpPr/>
          <p:nvPr/>
        </p:nvSpPr>
        <p:spPr>
          <a:xfrm>
            <a:off x="7239000" y="1651000"/>
            <a:ext cx="63500" cy="1054100"/>
          </a:xfrm>
          <a:prstGeom prst="roundRect">
            <a:avLst/>
          </a:prstGeom>
          <a:solidFill>
            <a:srgbClr val="42719B"/>
          </a:solidFill>
          <a:ln>
            <a:noFill/>
          </a:ln>
        </p:spPr>
      </p:sp>
      <p:sp>
        <p:nvSpPr>
          <p:cNvPr id="68" name="title-framework-4"/>
          <p:cNvSpPr txBox="1"/>
          <p:nvPr/>
        </p:nvSpPr>
        <p:spPr>
          <a:xfrm>
            <a:off x="7416800" y="1778000"/>
            <a:ext cx="1054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framework-4</a:t>
            </a:r>
            <a:endParaRPr lang="zh-CN" sz="1400">
              <a:latin typeface="Microsoft YaHei"/>
              <a:ea typeface="Microsoft YaHei"/>
            </a:endParaRPr>
          </a:p>
        </p:txBody>
      </p:sp>
      <p:sp>
        <p:nvSpPr>
          <p:cNvPr id="69" name="body-framework-4"/>
          <p:cNvSpPr txBox="1"/>
          <p:nvPr/>
        </p:nvSpPr>
        <p:spPr>
          <a:xfrm>
            <a:off x="7416800" y="2044700"/>
            <a:ext cx="1054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参数动作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调整 CIR/CBS</a:t>
            </a:r>
          </a:p>
          <a:p>
            <a:pPr algn="l"/>
            <a:r>
              <a:rPr lang="zh-CN" sz="1050">
                <a:latin typeface="Microsoft YaHei"/>
                <a:ea typeface="Microsoft YaHei"/>
              </a:rPr>
              <a:t>记录规则日志</a:t>
            </a:r>
          </a:p>
        </p:txBody>
      </p:sp>
      <p:sp>
        <p:nvSpPr>
          <p:cNvPr id="70" name="framework-outcome"/>
          <p:cNvSpPr txBox="1"/>
          <p:nvPr/>
        </p:nvSpPr>
        <p:spPr>
          <a:xfrm>
            <a:off x="914400" y="3175000"/>
            <a:ext cx="73025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400" b="1">
                <a:latin typeface="Microsoft YaHei"/>
                <a:ea typeface="Microsoft YaHei"/>
              </a:rPr>
              <a:t>输出：关键流时延、deadline violation、drop、吞吐与 CIR/CBS 参数轨迹</a:t>
            </a:r>
            <a:endParaRPr lang="zh-CN" sz="1400">
              <a:latin typeface="Microsoft YaHei"/>
              <a:ea typeface="Microsoft YaHei"/>
            </a:endParaRPr>
          </a:p>
        </p:txBody>
      </p:sp>
    </p:spTree>
  </p:cSld>
  <p:clrMapOvr>
    <a:masterClrMapping/>
  </p:clrMapOvr>
  <p:transition spd="slow" advClick="0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34"/>
          <p:cNvSpPr txBox="1"/>
          <p:nvPr>
            <p:custDataLst>
              <p:tags r:id="rId1"/>
            </p:custDataLst>
          </p:nvPr>
        </p:nvSpPr>
        <p:spPr>
          <a:xfrm>
            <a:off x="625178" y="771550"/>
            <a:ext cx="7939578" cy="4216523"/>
          </a:xfrm>
          <a:prstGeom prst="rect">
            <a:avLst/>
          </a:prstGeom>
          <a:noFill/>
        </p:spPr>
        <p:txBody>
          <a:bodyPr wrap="square" lIns="91426" tIns="45712" rIns="91426" bIns="45712" rtlCol="0">
            <a:spAutoFit/>
          </a:bodyPr>
          <a:lstStyle/>
          <a:p>
            <a:r>
              <a:rPr lang="zh-CN" altLang="en-US" b="1" dirty="0"/>
              <a:t>步骤一：问题建模与规则库设计</a:t>
            </a:r>
            <a:endParaRPr lang="zh-CN" altLang="en-US" dirty="0"/>
          </a:p>
          <a:p>
            <a:r>
              <a:rPr lang="zh-CN" altLang="en-US" dirty="0"/>
              <a:t>确定关键性能指标与</a:t>
            </a:r>
            <a:r>
              <a:rPr lang="en-US" altLang="zh-CN" dirty="0"/>
              <a:t>ATS</a:t>
            </a:r>
            <a:r>
              <a:rPr lang="zh-CN" altLang="en-US" dirty="0"/>
              <a:t>可控参数的映射关系，并设计初始启发式规则库。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步骤二：历史数据分析与阈值优化</a:t>
            </a:r>
            <a:endParaRPr lang="zh-CN" altLang="en-US" dirty="0"/>
          </a:p>
          <a:p>
            <a:r>
              <a:rPr lang="zh-CN" altLang="en-US" dirty="0"/>
              <a:t>收集历史运行数据，分析不同网络状态下最优参数的分布，使用</a:t>
            </a:r>
            <a:r>
              <a:rPr lang="zh-CN" altLang="en-US" b="1" dirty="0"/>
              <a:t>统计方法或轻量级搜索算法</a:t>
            </a:r>
            <a:r>
              <a:rPr lang="zh-CN" altLang="en-US" dirty="0"/>
              <a:t>，对规则中的阈值进行精细化校准。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步骤三：仿真平台搭建与验证</a:t>
            </a:r>
            <a:endParaRPr lang="zh-CN" altLang="en-US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OMNeT</a:t>
            </a:r>
            <a:r>
              <a:rPr lang="en-US" altLang="zh-CN" dirty="0"/>
              <a:t>++</a:t>
            </a:r>
            <a:r>
              <a:rPr lang="zh-CN" altLang="en-US" dirty="0"/>
              <a:t>网络仿真器，搭建典型</a:t>
            </a:r>
            <a:r>
              <a:rPr lang="en-US" altLang="zh-CN" dirty="0" err="1"/>
              <a:t>IIoT</a:t>
            </a:r>
            <a:r>
              <a:rPr lang="zh-CN" altLang="en-US" dirty="0"/>
              <a:t>拓扑，模拟动态流量场景，验证算法的有效性。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步骤四：性能对比与评估</a:t>
            </a:r>
            <a:endParaRPr lang="zh-CN" altLang="en-US" dirty="0"/>
          </a:p>
          <a:p>
            <a:r>
              <a:rPr lang="zh-CN" altLang="en-US" dirty="0"/>
              <a:t>将我们的方法与</a:t>
            </a:r>
            <a:r>
              <a:rPr lang="zh-CN" altLang="en-US" b="1" dirty="0"/>
              <a:t>静态配置方案</a:t>
            </a:r>
            <a:r>
              <a:rPr lang="zh-CN" altLang="en-US" dirty="0"/>
              <a:t>、</a:t>
            </a:r>
            <a:r>
              <a:rPr lang="zh-CN" altLang="en-US" b="1" dirty="0"/>
              <a:t>传统非自适应启发式算法</a:t>
            </a:r>
            <a:r>
              <a:rPr lang="zh-CN" altLang="en-US" dirty="0"/>
              <a:t>进行对比，评估指标：平均时延、时延抖动、吞吐量、规则触发频率等。</a:t>
            </a:r>
          </a:p>
          <a:p>
            <a:endParaRPr lang="zh-CN" altLang="en-US" sz="1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2772FB-7D78-C65E-12F2-CC3F9AB9AD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84695D5-DC33-3879-25E4-5FB77CC20C6E}"/>
              </a:ext>
            </a:extLst>
          </p:cNvPr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A0BC88-F101-8258-7584-C7B9A24D6ACD}"/>
              </a:ext>
            </a:extLst>
          </p:cNvPr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C13468-2DAE-4A5E-8CF9-B8DA1FD2EA7E}"/>
              </a:ext>
            </a:extLst>
          </p:cNvPr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09219F-6A51-3BC6-40A1-F5E913E95E2E}"/>
              </a:ext>
            </a:extLst>
          </p:cNvPr>
          <p:cNvSpPr/>
          <p:nvPr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80AF02-DEDB-ABDE-0C0C-A4F067BAB393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3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4" name="slide-title"/>
          <p:cNvSpPr txBox="1"/>
          <p:nvPr/>
        </p:nvSpPr>
        <p:spPr>
          <a:xfrm>
            <a:off x="533400" y="863600"/>
            <a:ext cx="7493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200" b="1">
                <a:latin typeface="Microsoft YaHei"/>
                <a:ea typeface="Microsoft YaHei"/>
              </a:rPr>
              <a:t>R1–R6 规则库与 R4 迟滞修正</a:t>
            </a:r>
            <a:endParaRPr lang="zh-CN" sz="2200">
              <a:latin typeface="Microsoft YaHei"/>
              <a:ea typeface="Microsoft YaHei"/>
            </a:endParaRPr>
          </a:p>
        </p:txBody>
      </p:sp>
      <p:sp>
        <p:nvSpPr>
          <p:cNvPr id="65" name="rule-card-R1"/>
          <p:cNvSpPr/>
          <p:nvPr/>
        </p:nvSpPr>
        <p:spPr>
          <a:xfrm>
            <a:off x="571500" y="13716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66" name="rule-number-R1"/>
          <p:cNvSpPr txBox="1"/>
          <p:nvPr/>
        </p:nvSpPr>
        <p:spPr>
          <a:xfrm>
            <a:off x="685800" y="14859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200" b="1">
                <a:latin typeface="Microsoft YaHei"/>
                <a:ea typeface="Microsoft YaHei"/>
              </a:rPr>
              <a:t>R1</a:t>
            </a:r>
            <a:endParaRPr lang="zh-CN" sz="1200">
              <a:latin typeface="Microsoft YaHei"/>
              <a:ea typeface="Microsoft YaHei"/>
            </a:endParaRPr>
          </a:p>
        </p:txBody>
      </p:sp>
      <p:sp>
        <p:nvSpPr>
          <p:cNvPr id="67" name="rule-trigger-R1"/>
          <p:cNvSpPr txBox="1"/>
          <p:nvPr/>
        </p:nvSpPr>
        <p:spPr>
          <a:xfrm>
            <a:off x="1092200" y="14732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队列增长</a:t>
            </a:r>
            <a:endParaRPr lang="zh-CN" sz="940">
              <a:latin typeface="Microsoft YaHei"/>
              <a:ea typeface="Microsoft YaHei"/>
            </a:endParaRPr>
          </a:p>
          <a:p>
            <a:pPr algn="l"/>
            <a:r>
              <a:rPr lang="zh-CN" sz="940" b="1">
                <a:latin typeface="Microsoft YaHei"/>
                <a:ea typeface="Microsoft YaHei"/>
              </a:rPr>
              <a:t>+ 到达率上升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68" name="rule-action-R1"/>
          <p:cNvSpPr txBox="1"/>
          <p:nvPr/>
        </p:nvSpPr>
        <p:spPr>
          <a:xfrm>
            <a:off x="2286000" y="16256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增 CIR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69" name="rule-card-R2"/>
          <p:cNvSpPr/>
          <p:nvPr/>
        </p:nvSpPr>
        <p:spPr>
          <a:xfrm>
            <a:off x="3251200" y="13716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70" name="rule-number-R2"/>
          <p:cNvSpPr txBox="1"/>
          <p:nvPr/>
        </p:nvSpPr>
        <p:spPr>
          <a:xfrm>
            <a:off x="3365500" y="14859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200" b="1">
                <a:latin typeface="Microsoft YaHei"/>
                <a:ea typeface="Microsoft YaHei"/>
              </a:rPr>
              <a:t>R2</a:t>
            </a:r>
            <a:endParaRPr lang="zh-CN" sz="1200">
              <a:latin typeface="Microsoft YaHei"/>
              <a:ea typeface="Microsoft YaHei"/>
            </a:endParaRPr>
          </a:p>
        </p:txBody>
      </p:sp>
      <p:sp>
        <p:nvSpPr>
          <p:cNvPr id="71" name="rule-trigger-R2"/>
          <p:cNvSpPr txBox="1"/>
          <p:nvPr/>
        </p:nvSpPr>
        <p:spPr>
          <a:xfrm>
            <a:off x="3771900" y="14732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时延接近</a:t>
            </a:r>
            <a:endParaRPr lang="zh-CN" sz="940">
              <a:latin typeface="Microsoft YaHei"/>
              <a:ea typeface="Microsoft YaHei"/>
            </a:endParaRPr>
          </a:p>
          <a:p>
            <a:pPr algn="l"/>
            <a:r>
              <a:rPr lang="zh-CN" sz="940" b="1">
                <a:latin typeface="Microsoft YaHei"/>
                <a:ea typeface="Microsoft YaHei"/>
              </a:rPr>
              <a:t>deadline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72" name="rule-action-R2"/>
          <p:cNvSpPr txBox="1"/>
          <p:nvPr/>
        </p:nvSpPr>
        <p:spPr>
          <a:xfrm>
            <a:off x="4965700" y="16256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增 CIR/CBS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73" name="rule-card-R3"/>
          <p:cNvSpPr/>
          <p:nvPr/>
        </p:nvSpPr>
        <p:spPr>
          <a:xfrm>
            <a:off x="5930900" y="13716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74" name="rule-number-R3"/>
          <p:cNvSpPr txBox="1"/>
          <p:nvPr/>
        </p:nvSpPr>
        <p:spPr>
          <a:xfrm>
            <a:off x="6045200" y="14859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200" b="1">
                <a:latin typeface="Microsoft YaHei"/>
                <a:ea typeface="Microsoft YaHei"/>
              </a:rPr>
              <a:t>R3</a:t>
            </a:r>
            <a:endParaRPr lang="zh-CN" sz="1200">
              <a:latin typeface="Microsoft YaHei"/>
              <a:ea typeface="Microsoft YaHei"/>
            </a:endParaRPr>
          </a:p>
        </p:txBody>
      </p:sp>
      <p:sp>
        <p:nvSpPr>
          <p:cNvPr id="75" name="rule-trigger-R3"/>
          <p:cNvSpPr txBox="1"/>
          <p:nvPr/>
        </p:nvSpPr>
        <p:spPr>
          <a:xfrm>
            <a:off x="6451600" y="14732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突发强度</a:t>
            </a:r>
            <a:endParaRPr lang="zh-CN" sz="940">
              <a:latin typeface="Microsoft YaHei"/>
              <a:ea typeface="Microsoft YaHei"/>
            </a:endParaRPr>
          </a:p>
          <a:p>
            <a:pPr algn="l"/>
            <a:r>
              <a:rPr lang="zh-CN" sz="940" b="1">
                <a:latin typeface="Microsoft YaHei"/>
                <a:ea typeface="Microsoft YaHei"/>
              </a:rPr>
              <a:t>升高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76" name="rule-action-R3"/>
          <p:cNvSpPr txBox="1"/>
          <p:nvPr/>
        </p:nvSpPr>
        <p:spPr>
          <a:xfrm>
            <a:off x="7645400" y="16256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增 CBS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77" name="rule-card-R4"/>
          <p:cNvSpPr/>
          <p:nvPr/>
        </p:nvSpPr>
        <p:spPr>
          <a:xfrm>
            <a:off x="571500" y="23114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78" name="rule-number-R4"/>
          <p:cNvSpPr txBox="1"/>
          <p:nvPr/>
        </p:nvSpPr>
        <p:spPr>
          <a:xfrm>
            <a:off x="685800" y="24257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200" b="1">
                <a:latin typeface="Microsoft YaHei"/>
                <a:ea typeface="Microsoft YaHei"/>
              </a:rPr>
              <a:t>R4</a:t>
            </a:r>
            <a:endParaRPr lang="zh-CN" sz="1200">
              <a:latin typeface="Microsoft YaHei"/>
              <a:ea typeface="Microsoft YaHei"/>
            </a:endParaRPr>
          </a:p>
        </p:txBody>
      </p:sp>
      <p:sp>
        <p:nvSpPr>
          <p:cNvPr id="79" name="rule-trigger-R4"/>
          <p:cNvSpPr txBox="1"/>
          <p:nvPr/>
        </p:nvSpPr>
        <p:spPr>
          <a:xfrm>
            <a:off x="1092200" y="24130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连续低负载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80" name="rule-action-R4"/>
          <p:cNvSpPr txBox="1"/>
          <p:nvPr/>
        </p:nvSpPr>
        <p:spPr>
          <a:xfrm>
            <a:off x="2286000" y="25654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降 CIR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81" name="rule-card-R5"/>
          <p:cNvSpPr/>
          <p:nvPr/>
        </p:nvSpPr>
        <p:spPr>
          <a:xfrm>
            <a:off x="3251200" y="23114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82" name="rule-number-R5"/>
          <p:cNvSpPr txBox="1"/>
          <p:nvPr/>
        </p:nvSpPr>
        <p:spPr>
          <a:xfrm>
            <a:off x="3365500" y="24257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200" b="1">
                <a:latin typeface="Microsoft YaHei"/>
                <a:ea typeface="Microsoft YaHei"/>
              </a:rPr>
              <a:t>R5</a:t>
            </a:r>
            <a:endParaRPr lang="zh-CN" sz="1200">
              <a:latin typeface="Microsoft YaHei"/>
              <a:ea typeface="Microsoft YaHei"/>
            </a:endParaRPr>
          </a:p>
        </p:txBody>
      </p:sp>
      <p:sp>
        <p:nvSpPr>
          <p:cNvPr id="83" name="rule-trigger-R5"/>
          <p:cNvSpPr txBox="1"/>
          <p:nvPr/>
        </p:nvSpPr>
        <p:spPr>
          <a:xfrm>
            <a:off x="3771900" y="24130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发生丢包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84" name="rule-action-R5"/>
          <p:cNvSpPr txBox="1"/>
          <p:nvPr/>
        </p:nvSpPr>
        <p:spPr>
          <a:xfrm>
            <a:off x="4965700" y="25654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紧急扩容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85" name="rule-card-R6"/>
          <p:cNvSpPr/>
          <p:nvPr/>
        </p:nvSpPr>
        <p:spPr>
          <a:xfrm>
            <a:off x="5930900" y="2311400"/>
            <a:ext cx="2451100" cy="762000"/>
          </a:xfrm>
          <a:prstGeom prst="roundRect">
            <a:avLst/>
          </a:prstGeom>
          <a:solidFill>
            <a:srgbClr val="EAF3FB"/>
          </a:solidFill>
          <a:ln w="9525">
            <a:solidFill>
              <a:srgbClr val="C9D9EC"/>
            </a:solidFill>
          </a:ln>
        </p:spPr>
      </p:sp>
      <p:sp>
        <p:nvSpPr>
          <p:cNvPr id="86" name="rule-number-R6"/>
          <p:cNvSpPr txBox="1"/>
          <p:nvPr/>
        </p:nvSpPr>
        <p:spPr>
          <a:xfrm>
            <a:off x="6045200" y="2425700"/>
            <a:ext cx="355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200" b="1">
                <a:latin typeface="Microsoft YaHei"/>
                <a:ea typeface="Microsoft YaHei"/>
              </a:rPr>
              <a:t>R6</a:t>
            </a:r>
            <a:endParaRPr lang="zh-CN" sz="1200">
              <a:latin typeface="Microsoft YaHei"/>
              <a:ea typeface="Microsoft YaHei"/>
            </a:endParaRPr>
          </a:p>
        </p:txBody>
      </p:sp>
      <p:sp>
        <p:nvSpPr>
          <p:cNvPr id="87" name="rule-trigger-R6"/>
          <p:cNvSpPr txBox="1"/>
          <p:nvPr/>
        </p:nvSpPr>
        <p:spPr>
          <a:xfrm>
            <a:off x="6451600" y="2413000"/>
            <a:ext cx="1155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稳态运行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88" name="rule-action-R6"/>
          <p:cNvSpPr txBox="1"/>
          <p:nvPr/>
        </p:nvSpPr>
        <p:spPr>
          <a:xfrm>
            <a:off x="7645400" y="2565400"/>
            <a:ext cx="635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40" b="1">
                <a:latin typeface="Microsoft YaHei"/>
                <a:ea typeface="Microsoft YaHei"/>
              </a:rPr>
              <a:t>回归默认</a:t>
            </a:r>
            <a:endParaRPr lang="zh-CN" sz="940">
              <a:latin typeface="Microsoft YaHei"/>
              <a:ea typeface="Microsoft YaHei"/>
            </a:endParaRPr>
          </a:p>
        </p:txBody>
      </p:sp>
      <p:sp>
        <p:nvSpPr>
          <p:cNvPr id="89" name="r4-highlight"/>
          <p:cNvSpPr/>
          <p:nvPr/>
        </p:nvSpPr>
        <p:spPr>
          <a:xfrm>
            <a:off x="571500" y="3390900"/>
            <a:ext cx="8001000" cy="520700"/>
          </a:xfrm>
          <a:prstGeom prst="roundRect">
            <a:avLst/>
          </a:prstGeom>
          <a:solidFill>
            <a:srgbClr val="FFF4E5"/>
          </a:solidFill>
          <a:ln w="9525">
            <a:solidFill>
              <a:srgbClr val="F4B183"/>
            </a:solidFill>
          </a:ln>
        </p:spPr>
      </p:sp>
      <p:sp>
        <p:nvSpPr>
          <p:cNvPr id="90" name="r4-title"/>
          <p:cNvSpPr txBox="1"/>
          <p:nvPr/>
        </p:nvSpPr>
        <p:spPr>
          <a:xfrm>
            <a:off x="723900" y="3530600"/>
            <a:ext cx="1270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 b="1">
                <a:latin typeface="Microsoft YaHei"/>
                <a:ea typeface="Microsoft YaHei"/>
              </a:rPr>
              <a:t>R4 迟滞修正：</a:t>
            </a:r>
            <a:endParaRPr lang="zh-CN" sz="1050">
              <a:latin typeface="Microsoft YaHei"/>
              <a:ea typeface="Microsoft YaHei"/>
            </a:endParaRPr>
          </a:p>
        </p:txBody>
      </p:sp>
      <p:sp>
        <p:nvSpPr>
          <p:cNvPr id="91" name="r4-detail"/>
          <p:cNvSpPr txBox="1"/>
          <p:nvPr/>
        </p:nvSpPr>
        <p:spPr>
          <a:xfrm>
            <a:off x="1993900" y="3530600"/>
            <a:ext cx="6223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050">
                <a:latin typeface="Microsoft YaHei"/>
                <a:ea typeface="Microsoft YaHei"/>
              </a:rPr>
              <a:t>扩容后保持时间 + 连续低负载窗口 + 更小降速步长，使 R4 触发次数由 23 次降至 5 次。</a:t>
            </a:r>
          </a:p>
        </p:txBody>
      </p:sp>
      <p:sp>
        <p:nvSpPr>
          <p:cNvPr id="92" name="preliminary-boundary"/>
          <p:cNvSpPr txBox="1"/>
          <p:nvPr/>
        </p:nvSpPr>
        <p:spPr>
          <a:xfrm>
            <a:off x="508000" y="4508500"/>
            <a:ext cx="7747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注：当前结果为单跳 Python/SimPy proof-of-concept 初步输出，仅用于趋势分析，不作为最终论文定量结论。</a:t>
            </a:r>
          </a:p>
        </p:txBody>
      </p:sp>
    </p:spTree>
  </p:cSld>
  <p:clrMapOvr>
    <a:masterClrMapping/>
  </p:clrMapOvr>
  <p:transition spd="slow" advClick="0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3183732" y="0"/>
            <a:ext cx="5960269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3" name="矩形 15"/>
          <p:cNvSpPr>
            <a:spLocks noChangeArrowheads="1"/>
          </p:cNvSpPr>
          <p:nvPr/>
        </p:nvSpPr>
        <p:spPr bwMode="auto">
          <a:xfrm>
            <a:off x="3006329" y="0"/>
            <a:ext cx="70247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5" name="文本框 52"/>
          <p:cNvSpPr>
            <a:spLocks noChangeArrowheads="1"/>
          </p:cNvSpPr>
          <p:nvPr/>
        </p:nvSpPr>
        <p:spPr bwMode="auto">
          <a:xfrm>
            <a:off x="395537" y="1275161"/>
            <a:ext cx="2502445" cy="65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第四部分</a:t>
            </a:r>
          </a:p>
        </p:txBody>
      </p:sp>
      <p:sp>
        <p:nvSpPr>
          <p:cNvPr id="30" name="矩形 29"/>
          <p:cNvSpPr/>
          <p:nvPr/>
        </p:nvSpPr>
        <p:spPr>
          <a:xfrm>
            <a:off x="3825914" y="2931791"/>
            <a:ext cx="5319000" cy="200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2" name="图片 1" descr="zs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5" y="2968625"/>
            <a:ext cx="2988945" cy="2393950"/>
          </a:xfrm>
          <a:prstGeom prst="rect">
            <a:avLst/>
          </a:prstGeom>
        </p:spPr>
      </p:pic>
      <p:sp>
        <p:nvSpPr>
          <p:cNvPr id="3" name="TextBox 4"/>
          <p:cNvSpPr txBox="1"/>
          <p:nvPr>
            <p:custDataLst>
              <p:tags r:id="rId2"/>
            </p:custDataLst>
          </p:nvPr>
        </p:nvSpPr>
        <p:spPr>
          <a:xfrm>
            <a:off x="3779912" y="1851670"/>
            <a:ext cx="1779974" cy="56169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Preliminary 实验结果</a:t>
            </a:r>
            <a:endParaRPr lang="zh-CN" altLang="en-US" sz="3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>
    <p:fade/>
    <p:sndAc>
      <p:stSnd>
        <p:snd r:embed="rId5" name="hammer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C7B1-7A66-BD92-CA5C-D3870797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34">
            <a:extLst>
              <a:ext uri="{FF2B5EF4-FFF2-40B4-BE49-F238E27FC236}">
                <a16:creationId xmlns:a16="http://schemas.microsoft.com/office/drawing/2014/main" id="{EADDD120-E1BC-2901-4DFE-99A8FCA7A30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32342" y="1059582"/>
            <a:ext cx="7212066" cy="2339086"/>
          </a:xfrm>
          <a:prstGeom prst="rect">
            <a:avLst/>
          </a:prstGeom>
          <a:noFill/>
        </p:spPr>
        <p:txBody>
          <a:bodyPr wrap="square" lIns="91426" tIns="45712" rIns="91426" bIns="45712" rtlCol="0">
            <a:spAutoFit/>
          </a:bodyPr>
          <a:lstStyle/>
          <a:p>
            <a:r>
              <a:rPr lang="zh-CN" altLang="en-US" sz="2000" b="1" dirty="0"/>
              <a:t>预期成果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一套完整的自适应</a:t>
            </a:r>
            <a:r>
              <a:rPr lang="en-US" altLang="zh-CN" b="1" dirty="0"/>
              <a:t>ATS</a:t>
            </a:r>
            <a:r>
              <a:rPr lang="zh-CN" altLang="en-US" b="1" dirty="0"/>
              <a:t>参数调整规则库与实现框架。</a:t>
            </a:r>
            <a:endParaRPr lang="zh-CN" altLang="en-US" dirty="0"/>
          </a:p>
          <a:p>
            <a:pPr lvl="1"/>
            <a:r>
              <a:rPr lang="zh-CN" altLang="en-US" dirty="0"/>
              <a:t>提供可解释、易维护的配置策略。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一个经过验证的、高效的阈值优化方法。</a:t>
            </a:r>
            <a:endParaRPr lang="zh-CN" altLang="en-US" dirty="0"/>
          </a:p>
          <a:p>
            <a:pPr lvl="1"/>
            <a:r>
              <a:rPr lang="zh-CN" altLang="en-US" dirty="0"/>
              <a:t>使规则系统具备从经验中学习的能力。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在仿真环境中证明，本方法相较于静态配置能显著提升网络性能。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9AAB07-DE55-1E1C-FB04-249D63009B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CC6724B-1C16-ED0B-9D2D-6882381B6833}"/>
              </a:ext>
            </a:extLst>
          </p:cNvPr>
          <p:cNvSpPr/>
          <p:nvPr/>
        </p:nvSpPr>
        <p:spPr>
          <a:xfrm>
            <a:off x="8100488" y="258402"/>
            <a:ext cx="183709" cy="13778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06C685-A947-C190-3707-86777CBD6469}"/>
              </a:ext>
            </a:extLst>
          </p:cNvPr>
          <p:cNvSpPr/>
          <p:nvPr/>
        </p:nvSpPr>
        <p:spPr>
          <a:xfrm>
            <a:off x="832900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ABE9CB-6F1A-0616-413D-060EAEFF2158}"/>
              </a:ext>
            </a:extLst>
          </p:cNvPr>
          <p:cNvSpPr/>
          <p:nvPr/>
        </p:nvSpPr>
        <p:spPr>
          <a:xfrm>
            <a:off x="7861978" y="258402"/>
            <a:ext cx="183709" cy="137782"/>
          </a:xfrm>
          <a:prstGeom prst="rect">
            <a:avLst/>
          </a:prstGeom>
          <a:solidFill>
            <a:srgbClr val="D2E3F3">
              <a:alpha val="99000"/>
            </a:srgb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D9A80C-9335-44F5-E7E9-C5282EA31760}"/>
              </a:ext>
            </a:extLst>
          </p:cNvPr>
          <p:cNvSpPr/>
          <p:nvPr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987CE5-A653-EA1F-71F8-5C060F35A00E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3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4" name="slide-title"/>
          <p:cNvSpPr txBox="1"/>
          <p:nvPr/>
        </p:nvSpPr>
        <p:spPr>
          <a:xfrm>
            <a:off x="533400" y="863600"/>
            <a:ext cx="7874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2200" b="1">
                <a:latin typeface="Microsoft YaHei"/>
                <a:ea typeface="Microsoft YaHei"/>
              </a:rPr>
              <a:t>Preliminary 实验设计与四组方法对比</a:t>
            </a:r>
            <a:endParaRPr lang="zh-CN" sz="2200">
              <a:latin typeface="Microsoft YaHei"/>
              <a:ea typeface="Microsoft YaHei"/>
            </a:endParaRPr>
          </a:p>
        </p:txBody>
      </p:sp>
      <p:sp>
        <p:nvSpPr>
          <p:cNvPr id="65" name="experiment-tags"/>
          <p:cNvSpPr txBox="1"/>
          <p:nvPr/>
        </p:nvSpPr>
        <p:spPr>
          <a:xfrm>
            <a:off x="533400" y="1244600"/>
            <a:ext cx="8001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880">
                <a:latin typeface="Microsoft YaHei"/>
                <a:ea typeface="Microsoft YaHei"/>
              </a:rPr>
              <a:t>动态场景：低负载 → 高峰流量增加 → ET burst → 负载回落     主展示：relaxed 10 ms profile     seed = 42</a:t>
            </a:r>
          </a:p>
        </p:txBody>
      </p:sp>
      <p:pic>
        <p:nvPicPr>
          <p:cNvPr id="66" name="midterm_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1524000"/>
            <a:ext cx="5080000" cy="2870200"/>
          </a:xfrm>
          <a:prstGeom prst="rect">
            <a:avLst/>
          </a:prstGeom>
        </p:spPr>
      </p:pic>
      <p:sp>
        <p:nvSpPr>
          <p:cNvPr id="67" name="comparison-title"/>
          <p:cNvSpPr txBox="1"/>
          <p:nvPr/>
        </p:nvSpPr>
        <p:spPr>
          <a:xfrm>
            <a:off x="5854700" y="1562100"/>
            <a:ext cx="2603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200" b="1">
                <a:latin typeface="Microsoft YaHei"/>
                <a:ea typeface="Microsoft YaHei"/>
              </a:rPr>
              <a:t>relaxed profile 核心观察</a:t>
            </a:r>
            <a:endParaRPr lang="zh-CN" sz="1200">
              <a:latin typeface="Microsoft YaHei"/>
              <a:ea typeface="Microsoft YaHei"/>
            </a:endParaRPr>
          </a:p>
        </p:txBody>
      </p:sp>
      <p:sp>
        <p:nvSpPr>
          <p:cNvPr id="68" name="method-row-0"/>
          <p:cNvSpPr/>
          <p:nvPr/>
        </p:nvSpPr>
        <p:spPr>
          <a:xfrm>
            <a:off x="5791200" y="1892300"/>
            <a:ext cx="2743200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69" name="method-0"/>
          <p:cNvSpPr txBox="1"/>
          <p:nvPr/>
        </p:nvSpPr>
        <p:spPr>
          <a:xfrm>
            <a:off x="5854700" y="1968500"/>
            <a:ext cx="11811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Static-Low</a:t>
            </a:r>
          </a:p>
        </p:txBody>
      </p:sp>
      <p:sp>
        <p:nvSpPr>
          <p:cNvPr id="70" name="drop-0"/>
          <p:cNvSpPr txBox="1"/>
          <p:nvPr/>
        </p:nvSpPr>
        <p:spPr>
          <a:xfrm>
            <a:off x="7035800" y="1968500"/>
            <a:ext cx="7366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drop 39.53%</a:t>
            </a:r>
          </a:p>
        </p:txBody>
      </p:sp>
      <p:sp>
        <p:nvSpPr>
          <p:cNvPr id="71" name="viol-0"/>
          <p:cNvSpPr txBox="1"/>
          <p:nvPr/>
        </p:nvSpPr>
        <p:spPr>
          <a:xfrm>
            <a:off x="7772400" y="1968500"/>
            <a:ext cx="6985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违约 98.78%</a:t>
            </a:r>
          </a:p>
        </p:txBody>
      </p:sp>
      <p:sp>
        <p:nvSpPr>
          <p:cNvPr id="72" name="method-row-1"/>
          <p:cNvSpPr/>
          <p:nvPr/>
        </p:nvSpPr>
        <p:spPr>
          <a:xfrm>
            <a:off x="5791200" y="2209800"/>
            <a:ext cx="2743200" cy="3175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73" name="method-1"/>
          <p:cNvSpPr txBox="1"/>
          <p:nvPr/>
        </p:nvSpPr>
        <p:spPr>
          <a:xfrm>
            <a:off x="5854700" y="2286000"/>
            <a:ext cx="11811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Static-High</a:t>
            </a:r>
          </a:p>
        </p:txBody>
      </p:sp>
      <p:sp>
        <p:nvSpPr>
          <p:cNvPr id="74" name="drop-1"/>
          <p:cNvSpPr txBox="1"/>
          <p:nvPr/>
        </p:nvSpPr>
        <p:spPr>
          <a:xfrm>
            <a:off x="7035800" y="2286000"/>
            <a:ext cx="7366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drop 0.30%</a:t>
            </a:r>
          </a:p>
        </p:txBody>
      </p:sp>
      <p:sp>
        <p:nvSpPr>
          <p:cNvPr id="75" name="viol-1"/>
          <p:cNvSpPr txBox="1"/>
          <p:nvPr/>
        </p:nvSpPr>
        <p:spPr>
          <a:xfrm>
            <a:off x="7772400" y="2286000"/>
            <a:ext cx="6985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违约 60.30%</a:t>
            </a:r>
          </a:p>
        </p:txBody>
      </p:sp>
      <p:sp>
        <p:nvSpPr>
          <p:cNvPr id="76" name="method-row-2"/>
          <p:cNvSpPr/>
          <p:nvPr/>
        </p:nvSpPr>
        <p:spPr>
          <a:xfrm>
            <a:off x="5791200" y="2527300"/>
            <a:ext cx="2743200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77" name="method-2"/>
          <p:cNvSpPr txBox="1"/>
          <p:nvPr/>
        </p:nvSpPr>
        <p:spPr>
          <a:xfrm>
            <a:off x="5854700" y="2603500"/>
            <a:ext cx="11811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Offline candidate</a:t>
            </a:r>
          </a:p>
        </p:txBody>
      </p:sp>
      <p:sp>
        <p:nvSpPr>
          <p:cNvPr id="78" name="drop-2"/>
          <p:cNvSpPr txBox="1"/>
          <p:nvPr/>
        </p:nvSpPr>
        <p:spPr>
          <a:xfrm>
            <a:off x="7035800" y="2603500"/>
            <a:ext cx="7366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drop 0.00%</a:t>
            </a:r>
          </a:p>
        </p:txBody>
      </p:sp>
      <p:sp>
        <p:nvSpPr>
          <p:cNvPr id="79" name="viol-2"/>
          <p:cNvSpPr txBox="1"/>
          <p:nvPr/>
        </p:nvSpPr>
        <p:spPr>
          <a:xfrm>
            <a:off x="7772400" y="2603500"/>
            <a:ext cx="6985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违约 0.00%</a:t>
            </a:r>
          </a:p>
        </p:txBody>
      </p:sp>
      <p:sp>
        <p:nvSpPr>
          <p:cNvPr id="80" name="method-row-3"/>
          <p:cNvSpPr/>
          <p:nvPr/>
        </p:nvSpPr>
        <p:spPr>
          <a:xfrm>
            <a:off x="5791200" y="2844800"/>
            <a:ext cx="2743200" cy="3175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81" name="method-3"/>
          <p:cNvSpPr txBox="1"/>
          <p:nvPr/>
        </p:nvSpPr>
        <p:spPr>
          <a:xfrm>
            <a:off x="5854700" y="2921000"/>
            <a:ext cx="11811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 b="1">
                <a:latin typeface="Microsoft YaHei"/>
                <a:ea typeface="Microsoft YaHei"/>
              </a:rPr>
              <a:t>Rule-Based</a:t>
            </a:r>
            <a:endParaRPr lang="zh-CN" sz="780">
              <a:latin typeface="Microsoft YaHei"/>
              <a:ea typeface="Microsoft YaHei"/>
            </a:endParaRPr>
          </a:p>
        </p:txBody>
      </p:sp>
      <p:sp>
        <p:nvSpPr>
          <p:cNvPr id="82" name="drop-3"/>
          <p:cNvSpPr txBox="1"/>
          <p:nvPr/>
        </p:nvSpPr>
        <p:spPr>
          <a:xfrm>
            <a:off x="7035800" y="2921000"/>
            <a:ext cx="7366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drop 0.00%</a:t>
            </a:r>
          </a:p>
        </p:txBody>
      </p:sp>
      <p:sp>
        <p:nvSpPr>
          <p:cNvPr id="83" name="viol-3"/>
          <p:cNvSpPr txBox="1"/>
          <p:nvPr/>
        </p:nvSpPr>
        <p:spPr>
          <a:xfrm>
            <a:off x="7772400" y="2921000"/>
            <a:ext cx="6985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违约 42.11%</a:t>
            </a:r>
          </a:p>
        </p:txBody>
      </p:sp>
      <p:sp>
        <p:nvSpPr>
          <p:cNvPr id="84" name="result-summary"/>
          <p:cNvSpPr txBox="1"/>
          <p:nvPr/>
        </p:nvSpPr>
        <p:spPr>
          <a:xfrm>
            <a:off x="5892800" y="3352800"/>
            <a:ext cx="2603500" cy="72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19">
                <a:latin typeface="Microsoft YaHei"/>
                <a:ea typeface="Microsoft YaHei"/>
              </a:rPr>
              <a:t>• Static-Low 在动态场景下明显失配。</a:t>
            </a:r>
          </a:p>
          <a:p>
            <a:pPr algn="l"/>
            <a:r>
              <a:rPr lang="zh-CN" sz="919">
                <a:latin typeface="Microsoft YaHei"/>
                <a:ea typeface="Microsoft YaHei"/>
              </a:rPr>
              <a:t>• Rule-Based 相对 Static-Low 呈改善趋势。</a:t>
            </a:r>
          </a:p>
          <a:p>
            <a:pPr algn="l"/>
            <a:r>
              <a:rPr lang="zh-CN" sz="919">
                <a:latin typeface="Microsoft YaHei"/>
                <a:ea typeface="Microsoft YaHei"/>
              </a:rPr>
              <a:t>• 当前 CIR/CBS 网格的离线候选仍更优，规则库尚需标定。</a:t>
            </a:r>
          </a:p>
        </p:txBody>
      </p:sp>
      <p:sp>
        <p:nvSpPr>
          <p:cNvPr id="85" name="preliminary-boundary"/>
          <p:cNvSpPr txBox="1"/>
          <p:nvPr/>
        </p:nvSpPr>
        <p:spPr>
          <a:xfrm>
            <a:off x="508000" y="4508500"/>
            <a:ext cx="7747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注：当前结果为单跳 Python/SimPy proof-of-concept 初步输出，仅用于趋势分析，不作为最终论文定量结论。</a:t>
            </a:r>
          </a:p>
        </p:txBody>
      </p:sp>
    </p:spTree>
    <p:extLst>
      <p:ext uri="{BB962C8B-B14F-4D97-AF65-F5344CB8AC3E}">
        <p14:creationId xmlns:p14="http://schemas.microsoft.com/office/powerpoint/2010/main" val="3770104282"/>
      </p:ext>
    </p:extLst>
  </p:cSld>
  <p:clrMapOvr>
    <a:masterClrMapping/>
  </p:clrMapOvr>
  <p:transition spd="slow" advClick="0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3183732" y="0"/>
            <a:ext cx="5960269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3" name="矩形 15"/>
          <p:cNvSpPr>
            <a:spLocks noChangeArrowheads="1"/>
          </p:cNvSpPr>
          <p:nvPr/>
        </p:nvSpPr>
        <p:spPr bwMode="auto">
          <a:xfrm>
            <a:off x="3006329" y="0"/>
            <a:ext cx="70247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lIns="68577" tIns="34289" rIns="68577" bIns="34289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5" name="文本框 52"/>
          <p:cNvSpPr>
            <a:spLocks noChangeArrowheads="1"/>
          </p:cNvSpPr>
          <p:nvPr/>
        </p:nvSpPr>
        <p:spPr bwMode="auto">
          <a:xfrm>
            <a:off x="395537" y="1275161"/>
            <a:ext cx="2502445" cy="65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第五部分</a:t>
            </a:r>
          </a:p>
        </p:txBody>
      </p:sp>
      <p:sp>
        <p:nvSpPr>
          <p:cNvPr id="25" name="TextBox 4"/>
          <p:cNvSpPr txBox="1"/>
          <p:nvPr/>
        </p:nvSpPr>
        <p:spPr>
          <a:xfrm>
            <a:off x="3761406" y="1851670"/>
            <a:ext cx="3600986" cy="5309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3000" dirty="0">
                <a:solidFill>
                  <a:srgbClr val="0070C0"/>
                </a:solidFill>
                <a:cs typeface="+mn-ea"/>
              </a:rPr>
              <a:t>阶段结论与后续计划</a:t>
            </a:r>
            <a:endParaRPr lang="zh-CN" altLang="en-US" sz="30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pic>
        <p:nvPicPr>
          <p:cNvPr id="2" name="图片 1" descr="zs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5" y="2968625"/>
            <a:ext cx="2988945" cy="2393950"/>
          </a:xfrm>
          <a:prstGeom prst="rect">
            <a:avLst/>
          </a:prstGeom>
        </p:spPr>
      </p:pic>
      <p:sp>
        <p:nvSpPr>
          <p:cNvPr id="30" name="矩形 29"/>
          <p:cNvSpPr/>
          <p:nvPr>
            <p:custDataLst>
              <p:tags r:id="rId2"/>
            </p:custDataLst>
          </p:nvPr>
        </p:nvSpPr>
        <p:spPr>
          <a:xfrm>
            <a:off x="3825914" y="2931791"/>
            <a:ext cx="5319000" cy="2004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  <p:sndAc>
      <p:stSnd>
        <p:snd r:embed="rId5" name="hammer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FA952-6C40-2170-DC28-9CB891B0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A4A01D84-22B0-071B-529E-6459DDDA8EEC}"/>
              </a:ext>
            </a:extLst>
          </p:cNvPr>
          <p:cNvSpPr/>
          <p:nvPr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34F97C7-FF32-868B-E6BE-C1986F21E3A0}"/>
              </a:ext>
            </a:extLst>
          </p:cNvPr>
          <p:cNvSpPr/>
          <p:nvPr/>
        </p:nvSpPr>
        <p:spPr>
          <a:xfrm>
            <a:off x="809773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C16620F-4921-EB2A-0E9E-AC7F838F1AA7}"/>
              </a:ext>
            </a:extLst>
          </p:cNvPr>
          <p:cNvSpPr/>
          <p:nvPr/>
        </p:nvSpPr>
        <p:spPr>
          <a:xfrm>
            <a:off x="8333487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7E16F9E-8684-84F5-43BF-B7967E7D629F}"/>
              </a:ext>
            </a:extLst>
          </p:cNvPr>
          <p:cNvSpPr/>
          <p:nvPr/>
        </p:nvSpPr>
        <p:spPr>
          <a:xfrm>
            <a:off x="7626223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E85515B-48B7-8DA1-609B-1CC6ACFDB034}"/>
              </a:ext>
            </a:extLst>
          </p:cNvPr>
          <p:cNvSpPr/>
          <p:nvPr/>
        </p:nvSpPr>
        <p:spPr>
          <a:xfrm>
            <a:off x="73841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文本框 34">
            <a:extLst>
              <a:ext uri="{FF2B5EF4-FFF2-40B4-BE49-F238E27FC236}">
                <a16:creationId xmlns:a16="http://schemas.microsoft.com/office/drawing/2014/main" id="{76B60EAD-F9DF-0C5F-EF12-72A7D3C8A30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49209" y="1059582"/>
            <a:ext cx="7799255" cy="3323971"/>
          </a:xfrm>
          <a:prstGeom prst="rect">
            <a:avLst/>
          </a:prstGeom>
          <a:noFill/>
        </p:spPr>
        <p:txBody>
          <a:bodyPr wrap="square" lIns="91426" tIns="45712" rIns="91426" bIns="45712" rtlCol="0">
            <a:spAutoFit/>
          </a:bodyPr>
          <a:lstStyle/>
          <a:p>
            <a:r>
              <a:rPr lang="zh-CN" altLang="en-US" sz="1400" b="1" dirty="0"/>
              <a:t>理论意义：旨在填补轻量级自适应方法的空白</a:t>
            </a:r>
            <a:endParaRPr lang="zh-CN" altLang="en-US" sz="1400" dirty="0"/>
          </a:p>
          <a:p>
            <a:pPr lvl="1"/>
            <a:r>
              <a:rPr lang="zh-CN" altLang="en-US" sz="1400" dirty="0"/>
              <a:t>现有方案在</a:t>
            </a:r>
            <a:r>
              <a:rPr lang="zh-CN" altLang="en-US" sz="1400" b="1" dirty="0"/>
              <a:t>动态</a:t>
            </a:r>
            <a:r>
              <a:rPr lang="en-US" altLang="zh-CN" sz="1400" b="1" dirty="0" err="1"/>
              <a:t>IIoT</a:t>
            </a:r>
            <a:r>
              <a:rPr lang="zh-CN" altLang="en-US" sz="1400" dirty="0"/>
              <a:t>场景下面临两难：</a:t>
            </a:r>
            <a:r>
              <a:rPr lang="zh-CN" altLang="en-US" sz="1400" b="1" dirty="0"/>
              <a:t>静态配置</a:t>
            </a:r>
            <a:r>
              <a:rPr lang="zh-CN" altLang="en-US" sz="1400" dirty="0"/>
              <a:t>过于保守，</a:t>
            </a:r>
            <a:r>
              <a:rPr lang="zh-CN" altLang="en-US" sz="1400" b="1" dirty="0"/>
              <a:t>复杂</a:t>
            </a:r>
            <a:r>
              <a:rPr lang="en-US" altLang="zh-CN" sz="1400" b="1" dirty="0"/>
              <a:t>AI</a:t>
            </a:r>
            <a:r>
              <a:rPr lang="zh-CN" altLang="en-US" sz="1400" b="1" dirty="0"/>
              <a:t>模型</a:t>
            </a:r>
            <a:r>
              <a:rPr lang="zh-CN" altLang="en-US" sz="1400" dirty="0"/>
              <a:t>又难以落地。</a:t>
            </a:r>
          </a:p>
          <a:p>
            <a:pPr lvl="1"/>
            <a:r>
              <a:rPr lang="zh-CN" altLang="en-US" sz="1400" dirty="0"/>
              <a:t>本研究拟探索一条基于简单规则与历史数据的轻量化路径，以期为实现动态确定性网络提供一种新的、更实用的解决方案。</a:t>
            </a:r>
            <a:endParaRPr lang="en-US" altLang="zh-CN" sz="1400" dirty="0"/>
          </a:p>
          <a:p>
            <a:pPr lvl="1"/>
            <a:endParaRPr lang="zh-CN" altLang="en-US" sz="1400" dirty="0"/>
          </a:p>
          <a:p>
            <a:r>
              <a:rPr lang="zh-CN" altLang="en-US" sz="1400" b="1" dirty="0"/>
              <a:t>应用价值：</a:t>
            </a:r>
            <a:endParaRPr lang="en-US" altLang="zh-CN" sz="1400" b="1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增强动态</a:t>
            </a:r>
            <a:r>
              <a:rPr lang="en-US" altLang="zh-CN" sz="1400" b="1" dirty="0" err="1"/>
              <a:t>IIoT</a:t>
            </a:r>
            <a:r>
              <a:rPr lang="zh-CN" altLang="en-US" sz="1400" b="1" dirty="0"/>
              <a:t>的确定性保障能力</a:t>
            </a:r>
            <a:endParaRPr lang="en-US" altLang="zh-CN" sz="1400" b="1" dirty="0"/>
          </a:p>
          <a:p>
            <a:pPr lvl="1"/>
            <a:r>
              <a:rPr lang="zh-CN" altLang="en-US" sz="1400" dirty="0"/>
              <a:t>期望通过本研究，能够为关键控制任务提供</a:t>
            </a:r>
            <a:r>
              <a:rPr lang="zh-CN" altLang="en-US" sz="1400" b="1" dirty="0"/>
              <a:t>更鲁棒</a:t>
            </a:r>
            <a:r>
              <a:rPr lang="zh-CN" altLang="en-US" sz="1400" dirty="0"/>
              <a:t>的确定性时延保障，从而支撑智能工厂的柔性生产。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提升网络资源利用效率</a:t>
            </a:r>
            <a:endParaRPr lang="zh-CN" altLang="en-US" sz="1400" dirty="0"/>
          </a:p>
          <a:p>
            <a:pPr lvl="1"/>
            <a:r>
              <a:rPr lang="zh-CN" altLang="en-US" sz="1400" dirty="0"/>
              <a:t>针对静态配置导致的</a:t>
            </a:r>
            <a:r>
              <a:rPr lang="zh-CN" altLang="en-US" sz="1400" b="1" dirty="0"/>
              <a:t>资源过度预留</a:t>
            </a:r>
            <a:r>
              <a:rPr lang="zh-CN" altLang="en-US" sz="1400" dirty="0"/>
              <a:t>问题，计划通过动态按需分配，在保证确定性的前提下，目标是提升带宽和缓冲区等稀缺资源的利用率。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形成可落地、低门槛的解决方案</a:t>
            </a:r>
            <a:endParaRPr lang="zh-CN" altLang="en-US" sz="1400" dirty="0"/>
          </a:p>
          <a:p>
            <a:pPr lvl="1"/>
            <a:r>
              <a:rPr lang="zh-CN" altLang="en-US" sz="1400" dirty="0"/>
              <a:t>为解决复杂算法在工业现场</a:t>
            </a:r>
            <a:r>
              <a:rPr lang="zh-CN" altLang="en-US" sz="1400" b="1" dirty="0"/>
              <a:t>部署难、维护成本高</a:t>
            </a:r>
            <a:r>
              <a:rPr lang="zh-CN" altLang="en-US" sz="1400" dirty="0"/>
              <a:t>的问题，本研究旨在设计一套计算开销小、易于理解的规则引擎，以期</a:t>
            </a:r>
            <a:r>
              <a:rPr lang="zh-CN" altLang="en-US" sz="1400" b="1" dirty="0"/>
              <a:t>降低</a:t>
            </a:r>
            <a:r>
              <a:rPr lang="zh-CN" altLang="en-US" sz="1400" dirty="0"/>
              <a:t>确定性网络的</a:t>
            </a:r>
            <a:r>
              <a:rPr lang="zh-CN" altLang="en-US" sz="1400" b="1" dirty="0"/>
              <a:t>技术门槛与运维成本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5E720E-364B-73D7-26AF-27A49C0A00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" y="162251"/>
            <a:ext cx="1512169" cy="393275"/>
          </a:xfrm>
          <a:prstGeom prst="rect">
            <a:avLst/>
          </a:prstGeom>
        </p:spPr>
      </p:pic>
      <p:sp>
        <p:nvSpPr>
          <p:cNvPr id="44" name="midterm-content-canvas"/>
          <p:cNvSpPr/>
          <p:nvPr/>
        </p:nvSpPr>
        <p:spPr>
          <a:xfrm>
            <a:off x="228600" y="723900"/>
            <a:ext cx="85090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slide-title"/>
          <p:cNvSpPr txBox="1"/>
          <p:nvPr/>
        </p:nvSpPr>
        <p:spPr>
          <a:xfrm>
            <a:off x="482600" y="863600"/>
            <a:ext cx="8128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900" b="1">
                <a:latin typeface="Microsoft YaHei"/>
                <a:ea typeface="Microsoft YaHei"/>
              </a:rPr>
              <a:t>动态过程、预标定方向与 OMNeT++/INET 迁移路线</a:t>
            </a:r>
            <a:endParaRPr lang="zh-CN" sz="1900">
              <a:latin typeface="Microsoft YaHei"/>
              <a:ea typeface="Microsoft YaHei"/>
            </a:endParaRPr>
          </a:p>
        </p:txBody>
      </p:sp>
      <p:pic>
        <p:nvPicPr>
          <p:cNvPr id="46" name="midterm_de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1244600"/>
            <a:ext cx="3810000" cy="1625600"/>
          </a:xfrm>
          <a:prstGeom prst="rect">
            <a:avLst/>
          </a:prstGeom>
        </p:spPr>
      </p:pic>
      <p:pic>
        <p:nvPicPr>
          <p:cNvPr id="47" name="midterm_trajec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600" y="2921000"/>
            <a:ext cx="3810000" cy="1473200"/>
          </a:xfrm>
          <a:prstGeom prst="rect">
            <a:avLst/>
          </a:prstGeom>
        </p:spPr>
      </p:pic>
      <p:sp>
        <p:nvSpPr>
          <p:cNvPr id="48" name="calibration-title"/>
          <p:cNvSpPr txBox="1"/>
          <p:nvPr/>
        </p:nvSpPr>
        <p:spPr>
          <a:xfrm>
            <a:off x="4622800" y="1270000"/>
            <a:ext cx="3429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150" b="1">
                <a:latin typeface="Microsoft YaHei"/>
                <a:ea typeface="Microsoft YaHei"/>
              </a:rPr>
              <a:t>小型预标定（relaxed）</a:t>
            </a:r>
            <a:endParaRPr lang="zh-CN" sz="1150">
              <a:latin typeface="Microsoft YaHei"/>
              <a:ea typeface="Microsoft YaHei"/>
            </a:endParaRPr>
          </a:p>
        </p:txBody>
      </p:sp>
      <p:sp>
        <p:nvSpPr>
          <p:cNvPr id="49" name="variant-row-0"/>
          <p:cNvSpPr/>
          <p:nvPr/>
        </p:nvSpPr>
        <p:spPr>
          <a:xfrm>
            <a:off x="4572000" y="1549400"/>
            <a:ext cx="3911600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0" name="variant-name-0"/>
          <p:cNvSpPr txBox="1"/>
          <p:nvPr/>
        </p:nvSpPr>
        <p:spPr>
          <a:xfrm>
            <a:off x="4635500" y="1625600"/>
            <a:ext cx="18034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Current-Rule</a:t>
            </a:r>
          </a:p>
        </p:txBody>
      </p:sp>
      <p:sp>
        <p:nvSpPr>
          <p:cNvPr id="51" name="variant-p99-0"/>
          <p:cNvSpPr txBox="1"/>
          <p:nvPr/>
        </p:nvSpPr>
        <p:spPr>
          <a:xfrm>
            <a:off x="6477000" y="1625600"/>
            <a:ext cx="8890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56.841 ms</a:t>
            </a:r>
          </a:p>
        </p:txBody>
      </p:sp>
      <p:sp>
        <p:nvSpPr>
          <p:cNvPr id="52" name="variant-viol-0"/>
          <p:cNvSpPr txBox="1"/>
          <p:nvPr/>
        </p:nvSpPr>
        <p:spPr>
          <a:xfrm>
            <a:off x="7429500" y="1625600"/>
            <a:ext cx="965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42.11%</a:t>
            </a:r>
          </a:p>
        </p:txBody>
      </p:sp>
      <p:sp>
        <p:nvSpPr>
          <p:cNvPr id="53" name="variant-row-1"/>
          <p:cNvSpPr/>
          <p:nvPr/>
        </p:nvSpPr>
        <p:spPr>
          <a:xfrm>
            <a:off x="4572000" y="1866900"/>
            <a:ext cx="3911600" cy="3175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54" name="variant-name-1"/>
          <p:cNvSpPr txBox="1"/>
          <p:nvPr/>
        </p:nvSpPr>
        <p:spPr>
          <a:xfrm>
            <a:off x="4635500" y="1943100"/>
            <a:ext cx="18034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Aggressive-CIR</a:t>
            </a:r>
          </a:p>
        </p:txBody>
      </p:sp>
      <p:sp>
        <p:nvSpPr>
          <p:cNvPr id="55" name="variant-p99-1"/>
          <p:cNvSpPr txBox="1"/>
          <p:nvPr/>
        </p:nvSpPr>
        <p:spPr>
          <a:xfrm>
            <a:off x="6477000" y="1943100"/>
            <a:ext cx="8890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19.819 ms</a:t>
            </a:r>
          </a:p>
        </p:txBody>
      </p:sp>
      <p:sp>
        <p:nvSpPr>
          <p:cNvPr id="56" name="variant-viol-1"/>
          <p:cNvSpPr txBox="1"/>
          <p:nvPr/>
        </p:nvSpPr>
        <p:spPr>
          <a:xfrm>
            <a:off x="7429500" y="1943100"/>
            <a:ext cx="965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7.52%</a:t>
            </a:r>
          </a:p>
        </p:txBody>
      </p:sp>
      <p:sp>
        <p:nvSpPr>
          <p:cNvPr id="57" name="variant-row-2"/>
          <p:cNvSpPr/>
          <p:nvPr/>
        </p:nvSpPr>
        <p:spPr>
          <a:xfrm>
            <a:off x="4572000" y="2184400"/>
            <a:ext cx="3911600" cy="31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0"/>
            </a:solidFill>
          </a:ln>
        </p:spPr>
      </p:sp>
      <p:sp>
        <p:nvSpPr>
          <p:cNvPr id="58" name="variant-name-2"/>
          <p:cNvSpPr txBox="1"/>
          <p:nvPr/>
        </p:nvSpPr>
        <p:spPr>
          <a:xfrm>
            <a:off x="4635500" y="2260600"/>
            <a:ext cx="18034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 b="1">
                <a:latin typeface="Microsoft YaHei"/>
                <a:ea typeface="Microsoft YaHei"/>
              </a:rPr>
              <a:t>CIR-Focused-Low-CBS</a:t>
            </a:r>
            <a:endParaRPr lang="zh-CN" sz="780">
              <a:latin typeface="Microsoft YaHei"/>
              <a:ea typeface="Microsoft YaHei"/>
            </a:endParaRPr>
          </a:p>
        </p:txBody>
      </p:sp>
      <p:sp>
        <p:nvSpPr>
          <p:cNvPr id="59" name="variant-p99-2"/>
          <p:cNvSpPr txBox="1"/>
          <p:nvPr/>
        </p:nvSpPr>
        <p:spPr>
          <a:xfrm>
            <a:off x="6477000" y="2260600"/>
            <a:ext cx="8890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12.346 ms</a:t>
            </a:r>
          </a:p>
        </p:txBody>
      </p:sp>
      <p:sp>
        <p:nvSpPr>
          <p:cNvPr id="60" name="variant-viol-2"/>
          <p:cNvSpPr txBox="1"/>
          <p:nvPr/>
        </p:nvSpPr>
        <p:spPr>
          <a:xfrm>
            <a:off x="7429500" y="2260600"/>
            <a:ext cx="965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3.01%</a:t>
            </a:r>
          </a:p>
        </p:txBody>
      </p:sp>
      <p:sp>
        <p:nvSpPr>
          <p:cNvPr id="61" name="variant-row-3"/>
          <p:cNvSpPr/>
          <p:nvPr/>
        </p:nvSpPr>
        <p:spPr>
          <a:xfrm>
            <a:off x="4572000" y="2501900"/>
            <a:ext cx="3911600" cy="3175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F0"/>
            </a:solidFill>
          </a:ln>
        </p:spPr>
      </p:sp>
      <p:sp>
        <p:nvSpPr>
          <p:cNvPr id="62" name="variant-name-3"/>
          <p:cNvSpPr txBox="1"/>
          <p:nvPr/>
        </p:nvSpPr>
        <p:spPr>
          <a:xfrm>
            <a:off x="4635500" y="2578100"/>
            <a:ext cx="18034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 b="1">
                <a:latin typeface="Microsoft YaHei"/>
                <a:ea typeface="Microsoft YaHei"/>
              </a:rPr>
              <a:t>Conservative-Return</a:t>
            </a:r>
            <a:endParaRPr lang="zh-CN" sz="780">
              <a:latin typeface="Microsoft YaHei"/>
              <a:ea typeface="Microsoft YaHei"/>
            </a:endParaRPr>
          </a:p>
        </p:txBody>
      </p:sp>
      <p:sp>
        <p:nvSpPr>
          <p:cNvPr id="63" name="variant-p99-3"/>
          <p:cNvSpPr txBox="1"/>
          <p:nvPr/>
        </p:nvSpPr>
        <p:spPr>
          <a:xfrm>
            <a:off x="6477000" y="2578100"/>
            <a:ext cx="8890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11.653 ms</a:t>
            </a:r>
          </a:p>
        </p:txBody>
      </p:sp>
      <p:sp>
        <p:nvSpPr>
          <p:cNvPr id="64" name="variant-viol-3"/>
          <p:cNvSpPr txBox="1"/>
          <p:nvPr/>
        </p:nvSpPr>
        <p:spPr>
          <a:xfrm>
            <a:off x="7429500" y="2578100"/>
            <a:ext cx="9652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80">
                <a:latin typeface="Microsoft YaHei"/>
                <a:ea typeface="Microsoft YaHei"/>
              </a:rPr>
              <a:t>3.27%</a:t>
            </a:r>
          </a:p>
        </p:txBody>
      </p:sp>
      <p:sp>
        <p:nvSpPr>
          <p:cNvPr id="65" name="calibration-summary"/>
          <p:cNvSpPr txBox="1"/>
          <p:nvPr/>
        </p:nvSpPr>
        <p:spPr>
          <a:xfrm>
            <a:off x="4635500" y="2984500"/>
            <a:ext cx="3746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19">
                <a:latin typeface="Microsoft YaHei"/>
                <a:ea typeface="Microsoft YaHei"/>
              </a:rPr>
              <a:t>方向：更偏向 CIR 提升、减少 CBS 的非必要增长、减慢回退，可改善当前 PoC 表现；仍需高保真复验。</a:t>
            </a:r>
          </a:p>
        </p:txBody>
      </p:sp>
      <p:sp>
        <p:nvSpPr>
          <p:cNvPr id="66" name="migration-title"/>
          <p:cNvSpPr txBox="1"/>
          <p:nvPr/>
        </p:nvSpPr>
        <p:spPr>
          <a:xfrm>
            <a:off x="4622800" y="3581400"/>
            <a:ext cx="31115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150" b="1">
                <a:latin typeface="Microsoft YaHei"/>
                <a:ea typeface="Microsoft YaHei"/>
              </a:rPr>
              <a:t>中期后迁移路线</a:t>
            </a:r>
            <a:endParaRPr lang="zh-CN" sz="1150">
              <a:latin typeface="Microsoft YaHei"/>
              <a:ea typeface="Microsoft YaHei"/>
            </a:endParaRPr>
          </a:p>
        </p:txBody>
      </p:sp>
      <p:sp>
        <p:nvSpPr>
          <p:cNvPr id="67" name="migration"/>
          <p:cNvSpPr txBox="1"/>
          <p:nvPr/>
        </p:nvSpPr>
        <p:spPr>
          <a:xfrm>
            <a:off x="4635500" y="3835400"/>
            <a:ext cx="3746500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919" b="1">
                <a:latin typeface="Microsoft YaHei"/>
                <a:ea typeface="Microsoft YaHei"/>
              </a:rPr>
              <a:t>ATS showcase / 模块核验  →  最小 TSN 拓扑  →  静态 baseline</a:t>
            </a:r>
            <a:endParaRPr lang="zh-CN" sz="919">
              <a:latin typeface="Microsoft YaHei"/>
              <a:ea typeface="Microsoft YaHei"/>
            </a:endParaRPr>
          </a:p>
          <a:p>
            <a:pPr algn="l"/>
            <a:r>
              <a:rPr lang="zh-CN" sz="919" b="1">
                <a:latin typeface="Microsoft YaHei"/>
                <a:ea typeface="Microsoft YaHei"/>
              </a:rPr>
              <a:t>→  Rule-Based controller  →  多 seed、多场景与参数敏感性</a:t>
            </a:r>
            <a:endParaRPr lang="zh-CN" sz="919">
              <a:latin typeface="Microsoft YaHei"/>
              <a:ea typeface="Microsoft YaHei"/>
            </a:endParaRPr>
          </a:p>
        </p:txBody>
      </p:sp>
      <p:sp>
        <p:nvSpPr>
          <p:cNvPr id="68" name="preliminary-boundary"/>
          <p:cNvSpPr txBox="1"/>
          <p:nvPr/>
        </p:nvSpPr>
        <p:spPr>
          <a:xfrm>
            <a:off x="508000" y="4508500"/>
            <a:ext cx="7747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760">
                <a:latin typeface="Microsoft YaHei"/>
                <a:ea typeface="Microsoft YaHei"/>
              </a:rPr>
              <a:t>注：当前结果为单跳 Python/SimPy proof-of-concept 初步输出，仅用于趋势分析，不作为最终论文定量结论。</a:t>
            </a:r>
          </a:p>
        </p:txBody>
      </p:sp>
    </p:spTree>
    <p:extLst>
      <p:ext uri="{BB962C8B-B14F-4D97-AF65-F5344CB8AC3E}">
        <p14:creationId xmlns:p14="http://schemas.microsoft.com/office/powerpoint/2010/main" val="890586222"/>
      </p:ext>
    </p:extLst>
  </p:cSld>
  <p:clrMapOvr>
    <a:masterClrMapping/>
  </p:clrMapOvr>
  <p:transition spd="slow" advClick="0" advTm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就坐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DDD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91555" y="2139702"/>
            <a:ext cx="6795770" cy="1167497"/>
          </a:xfrm>
          <a:prstGeom prst="rect">
            <a:avLst/>
          </a:prstGeom>
        </p:spPr>
        <p:txBody>
          <a:bodyPr wrap="square" lIns="68579" tIns="34289" rIns="68579" bIns="34289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5400" b="1" spc="600" dirty="0">
                <a:solidFill>
                  <a:prstClr val="white"/>
                </a:solidFill>
                <a:latin typeface="+mn-lt"/>
                <a:ea typeface="+mn-ea"/>
                <a:cs typeface="+mn-ea"/>
                <a:sym typeface="+mn-lt"/>
              </a:rPr>
              <a:t>谢谢</a:t>
            </a:r>
            <a:endParaRPr lang="zh-CN" altLang="en-US" sz="8800" b="1" spc="600" dirty="0">
              <a:solidFill>
                <a:prstClr val="whit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DDD6D1-BD42-061B-9268-7C0935F018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" y="213141"/>
            <a:ext cx="1512169" cy="393275"/>
          </a:xfrm>
          <a:prstGeom prst="rect">
            <a:avLst/>
          </a:prstGeom>
        </p:spPr>
      </p:pic>
      <p:sp>
        <p:nvSpPr>
          <p:cNvPr id="2" name="TextBox 40">
            <a:extLst>
              <a:ext uri="{FF2B5EF4-FFF2-40B4-BE49-F238E27FC236}">
                <a16:creationId xmlns:a16="http://schemas.microsoft.com/office/drawing/2014/main" id="{435B99C1-2A97-FBCB-F534-48198D31E8F0}"/>
              </a:ext>
            </a:extLst>
          </p:cNvPr>
          <p:cNvSpPr txBox="1"/>
          <p:nvPr/>
        </p:nvSpPr>
        <p:spPr>
          <a:xfrm>
            <a:off x="1147539" y="3367091"/>
            <a:ext cx="7281209" cy="435374"/>
          </a:xfrm>
          <a:prstGeom prst="rect">
            <a:avLst/>
          </a:prstGeom>
        </p:spPr>
        <p:txBody>
          <a:bodyPr wrap="square" lIns="68579" tIns="34289" rIns="68579" bIns="34289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800" b="1" spc="600" dirty="0">
                <a:solidFill>
                  <a:prstClr val="white"/>
                </a:solidFill>
                <a:latin typeface="+mn-lt"/>
                <a:ea typeface="+mn-ea"/>
                <a:cs typeface="+mn-ea"/>
                <a:sym typeface="+mn-lt"/>
              </a:rPr>
              <a:t>请各位老师批评指正！</a:t>
            </a:r>
            <a:endParaRPr lang="zh-CN" altLang="en-US" sz="3600" b="1" spc="600" dirty="0">
              <a:solidFill>
                <a:prstClr val="whit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hanks-subtitle"/>
          <p:cNvSpPr txBox="1"/>
          <p:nvPr/>
        </p:nvSpPr>
        <p:spPr>
          <a:xfrm>
            <a:off x="3175000" y="3810000"/>
            <a:ext cx="279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/>
          <a:lstStyle/>
          <a:p>
            <a:pPr algn="l"/>
            <a:r>
              <a:rPr lang="zh-CN" sz="1200">
                <a:latin typeface="Microsoft YaHei"/>
                <a:ea typeface="Microsoft YaHei"/>
              </a:rPr>
              <a:t>中期阶段性汇报</a:t>
            </a:r>
          </a:p>
        </p:txBody>
      </p:sp>
    </p:spTree>
    <p:extLst>
      <p:ext uri="{BB962C8B-B14F-4D97-AF65-F5344CB8AC3E}">
        <p14:creationId xmlns:p14="http://schemas.microsoft.com/office/powerpoint/2010/main" val="1702653692"/>
      </p:ext>
    </p:extLst>
  </p:cSld>
  <p:clrMapOvr>
    <a:masterClrMapping/>
  </p:clrMapOvr>
  <p:transition spd="slow" advClick="0" advTm="0">
    <p:randomBar dir="vert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dd9d2b831a866285bbed261366593b5abc2f77"/>
  <p:tag name="ISPRING_PRESENTATION_TITLE" val="falsh"/>
  <p:tag name="KSO_WPP_MARK_KEY" val="f6494114-e849-49a8-88aa-a54817e0a7c9"/>
  <p:tag name="COMMONDATA" val="eyJoZGlkIjoiOTVjMWUxNTdhNmYzMWM3OWU5ZmZjOTg0YTM2OGFmZ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01475_1*d*1"/>
  <p:tag name="KSO_WM_TEMPLATE_CATEGORY" val="diagram"/>
  <p:tag name="KSO_WM_TEMPLATE_INDEX" val="20201475"/>
  <p:tag name="KSO_WM_UNIT_LAYERLEVEL" val="1"/>
  <p:tag name="KSO_WM_TAG_VERSION" val="1.0"/>
  <p:tag name="KSO_WM_BEAUTIFY_FLAG" val=""/>
  <p:tag name="KSO_WM_UNIT_VALUE" val="1904*3390"/>
  <p:tag name="KSO_WM_UNIT_SUPPORT_UNIT_TYPE" val="[&quot;d&quot;]"/>
  <p:tag name="KSO_WM_UNIT_PICTURE_CLIP_FLAG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770,&quot;width&quot;:470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170,&quot;width&quot;:8955}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170,&quot;width&quot;:8955}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170,&quot;width&quot;:8955}"/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170,&quot;width&quot;:8955}"/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01475_1*d*1"/>
  <p:tag name="KSO_WM_TEMPLATE_CATEGORY" val="diagram"/>
  <p:tag name="KSO_WM_TEMPLATE_INDEX" val="20201475"/>
  <p:tag name="KSO_WM_UNIT_LAYERLEVEL" val="1"/>
  <p:tag name="KSO_WM_TAG_VERSION" val="1.0"/>
  <p:tag name="KSO_WM_BEAUTIFY_FLAG" val=""/>
  <p:tag name="KSO_WM_UNIT_VALUE" val="1904*3390"/>
  <p:tag name="KSO_WM_UNIT_SUPPORT_UNIT_TYPE" val="[&quot;d&quot;]"/>
  <p:tag name="KSO_WM_UNIT_PICTURE_CLIP_FLAG" val="0"/>
</p:tagLst>
</file>

<file path=ppt/theme/theme1.xml><?xml version="1.0" encoding="utf-8"?>
<a:theme xmlns:a="http://schemas.openxmlformats.org/drawingml/2006/main" name="50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2065</Words>
  <Application>Microsoft Macintosh PowerPoint</Application>
  <PresentationFormat>全屏显示(16:9)</PresentationFormat>
  <Paragraphs>274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方正兰亭粗黑_GBK</vt:lpstr>
      <vt:lpstr>思源黑体</vt:lpstr>
      <vt:lpstr>Microsoft YaHei</vt:lpstr>
      <vt:lpstr>Microsoft YaHei</vt:lpstr>
      <vt:lpstr>Arial Unicode MS</vt:lpstr>
      <vt:lpstr>quote-cjk-patch</vt:lpstr>
      <vt:lpstr>Arial</vt:lpstr>
      <vt:lpstr>Browallia New</vt:lpstr>
      <vt:lpstr>Calibri</vt:lpstr>
      <vt:lpstr>Calibri Light</vt:lpstr>
      <vt:lpstr>Wingdings</vt:lpstr>
      <vt:lpstr>50_Office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falsh</dc:title>
  <dc:creator>my</dc:creator>
  <cp:lastModifiedBy>anshizhao</cp:lastModifiedBy>
  <cp:revision>92</cp:revision>
  <dcterms:created xsi:type="dcterms:W3CDTF">2015-06-02T10:31:00Z</dcterms:created>
  <dcterms:modified xsi:type="dcterms:W3CDTF">2026-07-17T06:38:09Z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66F36F52FE054D3F9F99ADE4ECF66D80_13</vt:lpwstr>
  </property>
  <property fmtid="{D5CDD505-2E9C-101B-9397-08002B2CF9AE}" pid="3" name="KSOProductBuildVer">
    <vt:lpwstr>2052-11.1.0.14036</vt:lpwstr>
  </property>
</Properties>
</file>